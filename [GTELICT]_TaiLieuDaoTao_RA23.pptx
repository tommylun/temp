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8"/>
  </p:notesMasterIdLst>
  <p:sldIdLst>
    <p:sldId id="486" r:id="rId2"/>
    <p:sldId id="541" r:id="rId3"/>
    <p:sldId id="538" r:id="rId4"/>
    <p:sldId id="542" r:id="rId5"/>
    <p:sldId id="560" r:id="rId6"/>
    <p:sldId id="561" r:id="rId7"/>
    <p:sldId id="562" r:id="rId8"/>
    <p:sldId id="563" r:id="rId9"/>
    <p:sldId id="539" r:id="rId10"/>
    <p:sldId id="540" r:id="rId11"/>
    <p:sldId id="558" r:id="rId12"/>
    <p:sldId id="557" r:id="rId13"/>
    <p:sldId id="544" r:id="rId14"/>
    <p:sldId id="543" r:id="rId15"/>
    <p:sldId id="545" r:id="rId16"/>
    <p:sldId id="546" r:id="rId17"/>
    <p:sldId id="548" r:id="rId18"/>
    <p:sldId id="549" r:id="rId19"/>
    <p:sldId id="550" r:id="rId20"/>
    <p:sldId id="551" r:id="rId21"/>
    <p:sldId id="552" r:id="rId22"/>
    <p:sldId id="554" r:id="rId23"/>
    <p:sldId id="555" r:id="rId24"/>
    <p:sldId id="556" r:id="rId25"/>
    <p:sldId id="559" r:id="rId26"/>
    <p:sldId id="53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FFEBEB"/>
    <a:srgbClr val="FFB9B9"/>
    <a:srgbClr val="FFD9D9"/>
    <a:srgbClr val="FF5757"/>
    <a:srgbClr val="800000"/>
    <a:srgbClr val="7A0000"/>
    <a:srgbClr val="FF2121"/>
    <a:srgbClr val="FEC0B4"/>
    <a:srgbClr val="FD8D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70270" autoAdjust="0"/>
  </p:normalViewPr>
  <p:slideViewPr>
    <p:cSldViewPr>
      <p:cViewPr varScale="1">
        <p:scale>
          <a:sx n="61" d="100"/>
          <a:sy n="61" d="100"/>
        </p:scale>
        <p:origin x="1493" y="5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EF4197-CC3B-48AE-8585-F773859AC222}" type="datetimeFigureOut">
              <a:rPr lang="en-US" smtClean="0"/>
              <a:pPr/>
              <a:t>11/28/2024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583415-5094-438F-8356-A5E68F7C47B1}" type="slidenum">
              <a:rPr lang="en-US" smtClean="0"/>
              <a:pPr/>
              <a:t>‹#›</a:t>
            </a:fld>
            <a:endParaRPr lang="en-US"/>
          </a:p>
        </p:txBody>
      </p:sp>
    </p:spTree>
    <p:extLst>
      <p:ext uri="{BB962C8B-B14F-4D97-AF65-F5344CB8AC3E}">
        <p14:creationId xmlns:p14="http://schemas.microsoft.com/office/powerpoint/2010/main" val="1688647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Tx/>
              <a:buChar char="-"/>
            </a:pPr>
            <a:r>
              <a:rPr lang="en-US" smtClean="0">
                <a:solidFill>
                  <a:schemeClr val="tx1"/>
                </a:solidFill>
                <a:latin typeface="Times New Roman" panose="02020603050405020304" pitchFamily="18" charset="0"/>
                <a:cs typeface="Times New Roman" panose="02020603050405020304" pitchFamily="18" charset="0"/>
              </a:rPr>
              <a:t>Bảo vệ dữ liệu là một trong những vấn đề cơ bản nhất của hầu hết các doanh nghiệp. Hiện nay, khi thực hiện các giải pháp khôi phục lại dữ liệu, các tổ chức doanh nghiệp thường bị mất hết dữ liệu kể từ lần sao lưu cuối cùng - từ một vài giờ hay có thể lên tới vài ngày dữ liệu quan trọng.</a:t>
            </a:r>
          </a:p>
          <a:p>
            <a:pPr marL="171450" indent="-171450" algn="just">
              <a:buFontTx/>
              <a:buChar char="-"/>
            </a:pPr>
            <a:r>
              <a:rPr lang="en-US" smtClean="0">
                <a:solidFill>
                  <a:schemeClr val="tx1"/>
                </a:solidFill>
                <a:latin typeface="Times New Roman" panose="02020603050405020304" pitchFamily="18" charset="0"/>
                <a:cs typeface="Times New Roman" panose="02020603050405020304" pitchFamily="18" charset="0"/>
              </a:rPr>
              <a:t>Oracle Zero Data Loss Recovery Appliance (ZDLRA) - mang lại cho hệ thống một cách tiếp cận chưa từng có về bảo vệ cơ sở dữ liệu, đảm bảo rằng tổ chức sẽ không bị mất dữ liệu được tạo ra kể từ lần backup cuối cùng</a:t>
            </a:r>
          </a:p>
          <a:p>
            <a:pPr marL="171450" indent="-171450" algn="just">
              <a:buFontTx/>
              <a:buChar char="-"/>
            </a:pPr>
            <a:r>
              <a:rPr lang="en-US" smtClean="0">
                <a:solidFill>
                  <a:schemeClr val="tx1"/>
                </a:solidFill>
                <a:latin typeface="Times New Roman" panose="02020603050405020304" pitchFamily="18" charset="0"/>
                <a:cs typeface="Times New Roman" panose="02020603050405020304" pitchFamily="18" charset="0"/>
              </a:rPr>
              <a:t>Đây là một hệ tống được Oracle thiết kế đặc biệt để cung cấp cơ sở bảo vệ dữ liệu mang lại khả năng bảo vệ dữ liệu tối cao, khả năng mở rộng linh hoạt và hiệu quả.</a:t>
            </a:r>
          </a:p>
        </p:txBody>
      </p:sp>
      <p:sp>
        <p:nvSpPr>
          <p:cNvPr id="4" name="Slide Number Placeholder 3"/>
          <p:cNvSpPr>
            <a:spLocks noGrp="1"/>
          </p:cNvSpPr>
          <p:nvPr>
            <p:ph type="sldNum" sz="quarter" idx="10"/>
          </p:nvPr>
        </p:nvSpPr>
        <p:spPr/>
        <p:txBody>
          <a:bodyPr/>
          <a:lstStyle/>
          <a:p>
            <a:fld id="{AB583415-5094-438F-8356-A5E68F7C47B1}" type="slidenum">
              <a:rPr lang="en-US" smtClean="0"/>
              <a:pPr/>
              <a:t>3</a:t>
            </a:fld>
            <a:endParaRPr lang="en-US"/>
          </a:p>
        </p:txBody>
      </p:sp>
    </p:spTree>
    <p:extLst>
      <p:ext uri="{BB962C8B-B14F-4D97-AF65-F5344CB8AC3E}">
        <p14:creationId xmlns:p14="http://schemas.microsoft.com/office/powerpoint/2010/main" val="2172065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smtClean="0">
                <a:solidFill>
                  <a:schemeClr val="tx1"/>
                </a:solidFill>
                <a:effectLst/>
                <a:latin typeface="+mn-lt"/>
                <a:ea typeface="+mn-ea"/>
                <a:cs typeface="+mn-cs"/>
              </a:rPr>
              <a:t>Legacy File Copy</a:t>
            </a:r>
          </a:p>
          <a:p>
            <a:pPr marL="171450" lvl="0" indent="-171450">
              <a:buFontTx/>
              <a:buChar char="-"/>
            </a:pPr>
            <a:r>
              <a:rPr lang="vi-VN" smtClean="0"/>
              <a:t>Vẫn được hỗ trợ nhưng không còn được sử dụng nữa.</a:t>
            </a:r>
            <a:endParaRPr lang="en-US" smtClean="0"/>
          </a:p>
          <a:p>
            <a:pPr marL="171450" lvl="0" indent="-171450">
              <a:buFontTx/>
              <a:buChar char="-"/>
            </a:pPr>
            <a:r>
              <a:rPr lang="en-US" sz="1200" b="0" i="0" kern="1200" smtClean="0">
                <a:solidFill>
                  <a:schemeClr val="tx1"/>
                </a:solidFill>
                <a:effectLst/>
                <a:latin typeface="+mn-lt"/>
                <a:ea typeface="+mn-ea"/>
                <a:cs typeface="+mn-cs"/>
              </a:rPr>
              <a:t>Phương</a:t>
            </a:r>
            <a:r>
              <a:rPr lang="en-US" sz="1200" b="0" i="0" kern="1200" baseline="0" smtClean="0">
                <a:solidFill>
                  <a:schemeClr val="tx1"/>
                </a:solidFill>
                <a:effectLst/>
                <a:latin typeface="+mn-lt"/>
                <a:ea typeface="+mn-ea"/>
                <a:cs typeface="+mn-cs"/>
              </a:rPr>
              <a:t> pháp này sử dụng </a:t>
            </a:r>
            <a:r>
              <a:rPr lang="en-US" sz="1200" b="0" i="0" kern="1200" smtClean="0">
                <a:solidFill>
                  <a:schemeClr val="tx1"/>
                </a:solidFill>
                <a:effectLst/>
                <a:latin typeface="+mn-lt"/>
                <a:ea typeface="+mn-ea"/>
                <a:cs typeface="+mn-cs"/>
              </a:rPr>
              <a:t>tools như</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O/S “copy” commands such as “cp” trên Unix/Linux, hoặc</a:t>
            </a:r>
            <a:r>
              <a:rPr lang="en-US" sz="1200" b="0" i="0" kern="1200" baseline="0" smtClean="0">
                <a:solidFill>
                  <a:schemeClr val="tx1"/>
                </a:solidFill>
                <a:effectLst/>
                <a:latin typeface="+mn-lt"/>
                <a:ea typeface="+mn-ea"/>
                <a:cs typeface="+mn-cs"/>
              </a:rPr>
              <a:t> tool của bên thứ 3 như </a:t>
            </a:r>
            <a:r>
              <a:rPr lang="en-US" sz="1200" b="0" i="0" kern="1200" smtClean="0">
                <a:solidFill>
                  <a:schemeClr val="tx1"/>
                </a:solidFill>
                <a:effectLst/>
                <a:latin typeface="+mn-lt"/>
                <a:ea typeface="+mn-ea"/>
                <a:cs typeface="+mn-cs"/>
              </a:rPr>
              <a:t>MMV (Media Manager Vendor) để</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backup database files trực</a:t>
            </a:r>
            <a:r>
              <a:rPr lang="en-US" sz="1200" b="0" i="0" kern="1200" baseline="0" smtClean="0">
                <a:solidFill>
                  <a:schemeClr val="tx1"/>
                </a:solidFill>
                <a:effectLst/>
                <a:latin typeface="+mn-lt"/>
                <a:ea typeface="+mn-ea"/>
                <a:cs typeface="+mn-cs"/>
              </a:rPr>
              <a:t> tiếp</a:t>
            </a:r>
            <a:r>
              <a:rPr lang="en-US" sz="1200" b="0" i="0" kern="1200" smtClean="0">
                <a:solidFill>
                  <a:schemeClr val="tx1"/>
                </a:solidFill>
                <a:effectLst/>
                <a:latin typeface="+mn-lt"/>
                <a:ea typeface="+mn-ea"/>
                <a:cs typeface="+mn-cs"/>
              </a:rPr>
              <a:t>.</a:t>
            </a:r>
          </a:p>
          <a:p>
            <a:pPr marL="0" lvl="0" indent="0">
              <a:buFontTx/>
              <a:buNone/>
            </a:pPr>
            <a:endParaRPr lang="en-US" sz="1200" b="0" i="0" kern="120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smtClean="0">
                <a:solidFill>
                  <a:schemeClr val="tx1"/>
                </a:solidFill>
                <a:effectLst/>
                <a:latin typeface="+mn-lt"/>
                <a:ea typeface="+mn-ea"/>
                <a:cs typeface="+mn-cs"/>
              </a:rPr>
              <a:t>Snapshot Backups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smtClean="0">
              <a:solidFill>
                <a:schemeClr val="tx1"/>
              </a:solidFill>
              <a:effectLst/>
              <a:latin typeface="+mn-lt"/>
              <a:ea typeface="+mn-ea"/>
              <a:cs typeface="+mn-cs"/>
            </a:endParaRPr>
          </a:p>
          <a:p>
            <a:pPr marL="0" lvl="0" indent="0">
              <a:buFontTx/>
              <a:buNone/>
            </a:pPr>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4</a:t>
            </a:fld>
            <a:endParaRPr lang="en-US"/>
          </a:p>
        </p:txBody>
      </p:sp>
    </p:spTree>
    <p:extLst>
      <p:ext uri="{BB962C8B-B14F-4D97-AF65-F5344CB8AC3E}">
        <p14:creationId xmlns:p14="http://schemas.microsoft.com/office/powerpoint/2010/main" val="3820324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171450" lvl="0" indent="-171450">
              <a:buFontTx/>
              <a:buChar char="-"/>
            </a:pPr>
            <a:r>
              <a:rPr lang="vi-VN" smtClean="0"/>
              <a:t>Recovery Appliance là Hệ thống được thiết kế theo quy mô đám mây được thiết kế để bảo vệ tất cả Cơ sở dữ liệu Oracle trong doanh nghiệp của bạn. </a:t>
            </a:r>
            <a:endParaRPr lang="en-US" smtClean="0"/>
          </a:p>
          <a:p>
            <a:pPr marL="171450" lvl="0" indent="-171450">
              <a:buFontTx/>
              <a:buChar char="-"/>
            </a:pPr>
            <a:r>
              <a:rPr lang="vi-VN" smtClean="0"/>
              <a:t>Được xây dựng trên kiến ​​trúc có thể mở rộng và tích hợp với Recovery Manager (RMAN), nó sử dụng phần cứng có khả năng chịu lỗi và có thể mở rộng hoàn toàn để cung cấp chiến lược </a:t>
            </a:r>
            <a:r>
              <a:rPr lang="en-US" smtClean="0"/>
              <a:t>backup</a:t>
            </a:r>
            <a:r>
              <a:rPr lang="vi-VN" smtClean="0"/>
              <a:t> tập trung,</a:t>
            </a:r>
            <a:r>
              <a:rPr lang="en-US" smtClean="0"/>
              <a:t> </a:t>
            </a:r>
            <a:r>
              <a:rPr lang="vi-VN" smtClean="0"/>
              <a:t>incremental-forever</a:t>
            </a:r>
            <a:r>
              <a:rPr lang="en-US" baseline="0" smtClean="0"/>
              <a:t> </a:t>
            </a:r>
            <a:r>
              <a:rPr lang="vi-VN" smtClean="0"/>
              <a:t>cho nhiều cơ sở dữ liệu.</a:t>
            </a:r>
            <a:endParaRPr lang="en-US" smtClean="0"/>
          </a:p>
          <a:p>
            <a:pPr marL="171450" lvl="0" indent="-171450">
              <a:buFontTx/>
              <a:buChar char="-"/>
            </a:pPr>
            <a:r>
              <a:rPr lang="vi-VN" smtClean="0"/>
              <a:t>Recovery Appliance cung cấp khả năng bảo vệ và tính khả dụng của dữ liệu được nâng cao cho doanh nghiệp..</a:t>
            </a:r>
            <a:endParaRPr lang="en-US" smtClean="0"/>
          </a:p>
          <a:p>
            <a:pPr marL="171450" indent="-171450" algn="just">
              <a:buFontTx/>
              <a:buChar char="-"/>
            </a:pPr>
            <a:r>
              <a:rPr lang="vi-VN" smtClean="0"/>
              <a:t>Real-time redo transport</a:t>
            </a:r>
            <a:r>
              <a:rPr lang="en-US" smtClean="0"/>
              <a:t> </a:t>
            </a:r>
            <a:r>
              <a:rPr lang="vi-VN" smtClean="0"/>
              <a:t>cho phép bảo vệ dữ liệu đến giây cuối cùng, giảm đáng kể các mục tiêu điểm khôi phục trên toàn bộ doanh nghiệp. Quá trình sao lưu và khôi phục được chuyển sang Recovery Appliance, do đó giải phóng tài nguyên </a:t>
            </a:r>
            <a:r>
              <a:rPr lang="en-US" smtClean="0"/>
              <a:t>database</a:t>
            </a:r>
            <a:r>
              <a:rPr lang="en-US" baseline="0" smtClean="0"/>
              <a:t> production </a:t>
            </a:r>
            <a:r>
              <a:rPr lang="vi-VN" smtClean="0"/>
              <a:t>và tăng cường hiệu suất của chúng.</a:t>
            </a:r>
            <a:endParaRPr lang="en-US" smtClean="0"/>
          </a:p>
          <a:p>
            <a:pPr marL="171450" indent="-171450" algn="just">
              <a:buFontTx/>
              <a:buChar char="-"/>
            </a:pPr>
            <a:r>
              <a:rPr lang="en-US" smtClean="0"/>
              <a:t>Incremental backups are indexed and stored as they are received by the appliance. </a:t>
            </a:r>
          </a:p>
          <a:p>
            <a:pPr marL="171450" indent="-171450" algn="just">
              <a:buFontTx/>
              <a:buChar char="-"/>
            </a:pPr>
            <a:r>
              <a:rPr lang="en-US" smtClean="0"/>
              <a:t>Recovery Appliance provides virtual full backups, each of which is a complete database image as of one distinct point in time, to recover databases to any specified time within the recovery</a:t>
            </a:r>
            <a:r>
              <a:rPr lang="en-US" baseline="0" smtClean="0"/>
              <a:t> </a:t>
            </a:r>
            <a:r>
              <a:rPr lang="en-US" smtClean="0"/>
              <a:t>window. </a:t>
            </a:r>
          </a:p>
          <a:p>
            <a:pPr marL="171450" indent="-171450" algn="just">
              <a:buFontTx/>
              <a:buChar char="-"/>
            </a:pPr>
            <a:r>
              <a:rPr lang="en-US" smtClean="0"/>
              <a:t>Virtual full backups được</a:t>
            </a:r>
            <a:r>
              <a:rPr lang="en-US" baseline="0" smtClean="0"/>
              <a:t> tự động tạo bởi </a:t>
            </a:r>
            <a:r>
              <a:rPr lang="en-US" smtClean="0"/>
              <a:t>Recovery Appliance cho mỗi</a:t>
            </a:r>
            <a:r>
              <a:rPr lang="en-US" baseline="0" smtClean="0"/>
              <a:t> </a:t>
            </a:r>
            <a:r>
              <a:rPr lang="en-US" smtClean="0"/>
              <a:t>incremental backup that it receives. Virtual backups cho phép tái tạo nhanh chóng bản</a:t>
            </a:r>
            <a:r>
              <a:rPr lang="en-US" baseline="0" smtClean="0"/>
              <a:t> </a:t>
            </a:r>
            <a:r>
              <a:rPr lang="en-US" smtClean="0"/>
              <a:t>full backup to a point-in-time within the user's recovery window</a:t>
            </a:r>
          </a:p>
          <a:p>
            <a:pPr marL="171450" lvl="0" indent="-171450">
              <a:buFontTx/>
              <a:buChar char="-"/>
            </a:pPr>
            <a:endParaRPr lang="en-US" smtClean="0"/>
          </a:p>
          <a:p>
            <a:pPr marL="171450" lvl="0" indent="-171450">
              <a:buFontTx/>
              <a:buChar char="-"/>
            </a:pPr>
            <a:r>
              <a:rPr lang="en-US" smtClean="0"/>
              <a:t>ZDLRA uses Delta Push </a:t>
            </a:r>
          </a:p>
          <a:p>
            <a:pPr marL="628650" lvl="1" indent="-171450">
              <a:buFont typeface="Wingdings" panose="05000000000000000000" pitchFamily="2" charset="2"/>
              <a:buChar char="Ø"/>
            </a:pPr>
            <a:r>
              <a:rPr lang="en-US" smtClean="0"/>
              <a:t>Delta Push is implemented using the RMAN API </a:t>
            </a:r>
          </a:p>
          <a:p>
            <a:pPr marL="628650" lvl="1" indent="-171450">
              <a:buFont typeface="Wingdings" panose="05000000000000000000" pitchFamily="2" charset="2"/>
              <a:buChar char="Ø"/>
            </a:pPr>
            <a:r>
              <a:rPr lang="en-US" smtClean="0"/>
              <a:t>Delta Push is not the same as an RMAN Incremental LEVEL1</a:t>
            </a:r>
          </a:p>
          <a:p>
            <a:pPr marL="628650" lvl="1" indent="-171450">
              <a:buFont typeface="Wingdings" panose="05000000000000000000" pitchFamily="2" charset="2"/>
              <a:buChar char="Ø"/>
            </a:pPr>
            <a:r>
              <a:rPr lang="en-US" smtClean="0"/>
              <a:t>Delta Push sends changed blocks in Backup Set format </a:t>
            </a:r>
          </a:p>
          <a:p>
            <a:pPr marL="628650" lvl="1" indent="-171450">
              <a:buFont typeface="Wingdings" panose="05000000000000000000" pitchFamily="2" charset="2"/>
              <a:buChar char="Ø"/>
            </a:pPr>
            <a:r>
              <a:rPr lang="en-US" smtClean="0"/>
              <a:t>ZDLRA unpacks blocks from the Backup Set</a:t>
            </a:r>
          </a:p>
          <a:p>
            <a:pPr marL="628650" lvl="1" indent="-171450">
              <a:buFont typeface="Wingdings" panose="05000000000000000000" pitchFamily="2" charset="2"/>
              <a:buChar char="Ø"/>
            </a:pPr>
            <a:r>
              <a:rPr lang="en-US" smtClean="0"/>
              <a:t>ZDLRA generates Virtual Full Backups in the Delta Store</a:t>
            </a:r>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5</a:t>
            </a:fld>
            <a:endParaRPr lang="en-US"/>
          </a:p>
        </p:txBody>
      </p:sp>
    </p:spTree>
    <p:extLst>
      <p:ext uri="{BB962C8B-B14F-4D97-AF65-F5344CB8AC3E}">
        <p14:creationId xmlns:p14="http://schemas.microsoft.com/office/powerpoint/2010/main" val="504275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171450" lvl="0" indent="-171450">
              <a:buFontTx/>
              <a:buChar char="-"/>
            </a:pPr>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6</a:t>
            </a:fld>
            <a:endParaRPr lang="en-US"/>
          </a:p>
        </p:txBody>
      </p:sp>
    </p:spTree>
    <p:extLst>
      <p:ext uri="{BB962C8B-B14F-4D97-AF65-F5344CB8AC3E}">
        <p14:creationId xmlns:p14="http://schemas.microsoft.com/office/powerpoint/2010/main" val="3768402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lvl="0" indent="-171450">
              <a:buFontTx/>
              <a:buChar char="-"/>
            </a:pPr>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7</a:t>
            </a:fld>
            <a:endParaRPr lang="en-US"/>
          </a:p>
        </p:txBody>
      </p:sp>
    </p:spTree>
    <p:extLst>
      <p:ext uri="{BB962C8B-B14F-4D97-AF65-F5344CB8AC3E}">
        <p14:creationId xmlns:p14="http://schemas.microsoft.com/office/powerpoint/2010/main" val="2877395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450" lvl="0" indent="-171450">
              <a:buFontTx/>
              <a:buChar char="-"/>
            </a:pPr>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8</a:t>
            </a:fld>
            <a:endParaRPr lang="en-US"/>
          </a:p>
        </p:txBody>
      </p:sp>
    </p:spTree>
    <p:extLst>
      <p:ext uri="{BB962C8B-B14F-4D97-AF65-F5344CB8AC3E}">
        <p14:creationId xmlns:p14="http://schemas.microsoft.com/office/powerpoint/2010/main" val="1181679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Tx/>
              <a:buChar char="-"/>
            </a:pPr>
            <a:r>
              <a:rPr lang="en-US" smtClean="0">
                <a:latin typeface="Times New Roman" panose="02020603050405020304" pitchFamily="18" charset="0"/>
                <a:cs typeface="Times New Roman" panose="02020603050405020304" pitchFamily="18" charset="0"/>
              </a:rPr>
              <a:t>ZDLRA bao gồm compute servers, storage servers, và các thành phần network.</a:t>
            </a:r>
          </a:p>
          <a:p>
            <a:pPr marL="171450" indent="-171450" algn="just">
              <a:buFontTx/>
              <a:buChar char="-"/>
            </a:pPr>
            <a:r>
              <a:rPr lang="en-US" smtClean="0">
                <a:latin typeface="Times New Roman" panose="02020603050405020304" pitchFamily="18" charset="0"/>
                <a:cs typeface="Times New Roman" panose="02020603050405020304" pitchFamily="18" charset="0"/>
              </a:rPr>
              <a:t>Oracle cung cấp nhiều phiên bản Recovery Appliance như RA23, RA21, X8M.</a:t>
            </a:r>
          </a:p>
          <a:p>
            <a:pPr marL="171450" indent="-171450" algn="just">
              <a:buFontTx/>
              <a:buChar char="-"/>
            </a:pPr>
            <a:r>
              <a:rPr lang="en-US" smtClean="0">
                <a:latin typeface="Times New Roman" panose="02020603050405020304" pitchFamily="18" charset="0"/>
                <a:cs typeface="Times New Roman" panose="02020603050405020304" pitchFamily="18" charset="0"/>
              </a:rPr>
              <a:t>Có thể có tới 18 full racks trong một single cluster.</a:t>
            </a:r>
          </a:p>
          <a:p>
            <a:pPr marL="171450" indent="-171450" algn="just">
              <a:buFontTx/>
              <a:buChar char="-"/>
            </a:pPr>
            <a:r>
              <a:rPr lang="en-US" smtClean="0">
                <a:latin typeface="Times New Roman" panose="02020603050405020304" pitchFamily="18" charset="0"/>
                <a:cs typeface="Times New Roman" panose="02020603050405020304" pitchFamily="18" charset="0"/>
              </a:rPr>
              <a:t>RA23 rack có</a:t>
            </a:r>
            <a:r>
              <a:rPr lang="en-US" baseline="0" smtClean="0">
                <a:latin typeface="Times New Roman" panose="02020603050405020304" pitchFamily="18" charset="0"/>
                <a:cs typeface="Times New Roman" panose="02020603050405020304" pitchFamily="18" charset="0"/>
              </a:rPr>
              <a:t> 2 </a:t>
            </a:r>
            <a:r>
              <a:rPr lang="en-US" smtClean="0"/>
              <a:t>compute servers</a:t>
            </a:r>
            <a:endParaRPr lang="en-US" smtClean="0">
              <a:latin typeface="Times New Roman" panose="02020603050405020304" pitchFamily="18" charset="0"/>
              <a:cs typeface="Times New Roman" panose="02020603050405020304" pitchFamily="18" charset="0"/>
            </a:endParaRPr>
          </a:p>
          <a:p>
            <a:pPr marL="171450" indent="-171450" algn="l">
              <a:buFontTx/>
              <a:buChar char="-"/>
            </a:pPr>
            <a:r>
              <a:rPr lang="en-US" sz="1200" b="0" i="0" kern="1200" smtClean="0">
                <a:solidFill>
                  <a:schemeClr val="tx1"/>
                </a:solidFill>
                <a:effectLst/>
                <a:latin typeface="+mn-lt"/>
                <a:ea typeface="+mn-ea"/>
                <a:cs typeface="+mn-cs"/>
              </a:rPr>
              <a:t>RA23 rack có</a:t>
            </a:r>
            <a:r>
              <a:rPr lang="en-US" sz="1200" b="0" i="0" kern="1200" baseline="0" smtClean="0">
                <a:solidFill>
                  <a:schemeClr val="tx1"/>
                </a:solidFill>
                <a:effectLst/>
                <a:latin typeface="+mn-lt"/>
                <a:ea typeface="+mn-ea"/>
                <a:cs typeface="+mn-cs"/>
              </a:rPr>
              <a:t> thể</a:t>
            </a:r>
            <a:r>
              <a:rPr lang="en-US" sz="1200" b="0" i="0" kern="1200" smtClean="0">
                <a:solidFill>
                  <a:schemeClr val="tx1"/>
                </a:solidFill>
                <a:effectLst/>
                <a:latin typeface="+mn-lt"/>
                <a:ea typeface="+mn-ea"/>
                <a:cs typeface="+mn-cs"/>
              </a:rPr>
              <a:t> support từ</a:t>
            </a:r>
            <a:r>
              <a:rPr lang="en-US" sz="1200" b="0" i="0" kern="1200" baseline="0" smtClean="0">
                <a:solidFill>
                  <a:schemeClr val="tx1"/>
                </a:solidFill>
                <a:effectLst/>
                <a:latin typeface="+mn-lt"/>
                <a:ea typeface="+mn-ea"/>
                <a:cs typeface="+mn-cs"/>
              </a:rPr>
              <a:t> 3 đến </a:t>
            </a:r>
            <a:r>
              <a:rPr lang="en-US" sz="1200" b="0" i="0" kern="1200" smtClean="0">
                <a:solidFill>
                  <a:schemeClr val="tx1"/>
                </a:solidFill>
                <a:effectLst/>
                <a:latin typeface="+mn-lt"/>
                <a:ea typeface="+mn-ea"/>
                <a:cs typeface="+mn-cs"/>
              </a:rPr>
              <a:t>17 storage servers, với</a:t>
            </a:r>
            <a:r>
              <a:rPr lang="en-US" sz="1200" b="0" i="0" kern="1200" baseline="0" smtClean="0">
                <a:solidFill>
                  <a:schemeClr val="tx1"/>
                </a:solidFill>
                <a:effectLst/>
                <a:latin typeface="+mn-lt"/>
                <a:ea typeface="+mn-ea"/>
                <a:cs typeface="+mn-cs"/>
              </a:rPr>
              <a:t> dung lượng khả dụng ở mode </a:t>
            </a:r>
            <a:r>
              <a:rPr lang="en-US" sz="1200" b="0" i="0" kern="1200" smtClean="0">
                <a:solidFill>
                  <a:schemeClr val="tx1"/>
                </a:solidFill>
                <a:effectLst/>
                <a:latin typeface="+mn-lt"/>
                <a:ea typeface="+mn-ea"/>
                <a:cs typeface="+mn-cs"/>
              </a:rPr>
              <a:t>normal redundancy là 92 TB trên</a:t>
            </a:r>
            <a:r>
              <a:rPr lang="en-US" sz="1200" b="0" i="0" kern="1200" baseline="0" smtClean="0">
                <a:solidFill>
                  <a:schemeClr val="tx1"/>
                </a:solidFill>
                <a:effectLst/>
                <a:latin typeface="+mn-lt"/>
                <a:ea typeface="+mn-ea"/>
                <a:cs typeface="+mn-cs"/>
              </a:rPr>
              <a:t> 1 </a:t>
            </a:r>
            <a:r>
              <a:rPr lang="en-US" sz="1200" b="0" i="0" kern="1200" smtClean="0">
                <a:solidFill>
                  <a:schemeClr val="tx1"/>
                </a:solidFill>
                <a:effectLst/>
                <a:latin typeface="+mn-lt"/>
                <a:ea typeface="+mn-ea"/>
                <a:cs typeface="+mn-cs"/>
              </a:rPr>
              <a:t>storage server, minimum (3 storage servers) là 274 TB và full rack là 1.57 PB.</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Ở</a:t>
            </a:r>
            <a:r>
              <a:rPr lang="en-US" sz="1200" b="0" i="0" kern="1200" baseline="0" smtClean="0">
                <a:solidFill>
                  <a:schemeClr val="tx1"/>
                </a:solidFill>
                <a:effectLst/>
                <a:latin typeface="+mn-lt"/>
                <a:ea typeface="+mn-ea"/>
                <a:cs typeface="+mn-cs"/>
              </a:rPr>
              <a:t> mode</a:t>
            </a:r>
            <a:r>
              <a:rPr lang="en-US" sz="1200" b="0" i="0" kern="1200" smtClean="0">
                <a:solidFill>
                  <a:schemeClr val="tx1"/>
                </a:solidFill>
                <a:effectLst/>
                <a:latin typeface="+mn-lt"/>
                <a:ea typeface="+mn-ea"/>
                <a:cs typeface="+mn-cs"/>
              </a:rPr>
              <a:t> high redundancy, </a:t>
            </a:r>
            <a:r>
              <a:rPr lang="en-US" sz="1200" b="0" i="0" kern="1200" baseline="0" smtClean="0">
                <a:solidFill>
                  <a:schemeClr val="tx1"/>
                </a:solidFill>
                <a:effectLst/>
                <a:latin typeface="+mn-lt"/>
                <a:ea typeface="+mn-ea"/>
                <a:cs typeface="+mn-cs"/>
              </a:rPr>
              <a:t>dung lượng khả dụng là </a:t>
            </a:r>
            <a:r>
              <a:rPr lang="en-US" sz="1200" b="0" i="0" kern="1200" smtClean="0">
                <a:solidFill>
                  <a:schemeClr val="tx1"/>
                </a:solidFill>
                <a:effectLst/>
                <a:latin typeface="+mn-lt"/>
                <a:ea typeface="+mn-ea"/>
                <a:cs typeface="+mn-cs"/>
              </a:rPr>
              <a:t>60 TB trên</a:t>
            </a:r>
            <a:r>
              <a:rPr lang="en-US" sz="1200" b="0" i="0" kern="1200" baseline="0" smtClean="0">
                <a:solidFill>
                  <a:schemeClr val="tx1"/>
                </a:solidFill>
                <a:effectLst/>
                <a:latin typeface="+mn-lt"/>
                <a:ea typeface="+mn-ea"/>
                <a:cs typeface="+mn-cs"/>
              </a:rPr>
              <a:t> 1</a:t>
            </a:r>
            <a:r>
              <a:rPr lang="en-US" sz="1200" b="0" i="0" kern="1200" smtClean="0">
                <a:solidFill>
                  <a:schemeClr val="tx1"/>
                </a:solidFill>
                <a:effectLst/>
                <a:latin typeface="+mn-lt"/>
                <a:ea typeface="+mn-ea"/>
                <a:cs typeface="+mn-cs"/>
              </a:rPr>
              <a:t> storage server, minimum (3 storage servers) là 174 TB and full rack total 1 PB.</a:t>
            </a:r>
            <a:r>
              <a:rPr lang="en-US" smtClean="0"/>
              <a:t> </a:t>
            </a:r>
            <a:br>
              <a:rPr lang="en-US" smtClean="0"/>
            </a:br>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9</a:t>
            </a:fld>
            <a:endParaRPr lang="en-US"/>
          </a:p>
        </p:txBody>
      </p:sp>
    </p:spTree>
    <p:extLst>
      <p:ext uri="{BB962C8B-B14F-4D97-AF65-F5344CB8AC3E}">
        <p14:creationId xmlns:p14="http://schemas.microsoft.com/office/powerpoint/2010/main" val="2804460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r>
              <a:rPr lang="en-US" smtClean="0"/>
              <a:t>The Oracle Zero Data Loss Recovery Appliance RA23 compute server is based on the Oracle Exadata Database Server</a:t>
            </a:r>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10</a:t>
            </a:fld>
            <a:endParaRPr lang="en-US"/>
          </a:p>
        </p:txBody>
      </p:sp>
    </p:spTree>
    <p:extLst>
      <p:ext uri="{BB962C8B-B14F-4D97-AF65-F5344CB8AC3E}">
        <p14:creationId xmlns:p14="http://schemas.microsoft.com/office/powerpoint/2010/main" val="2876195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r>
              <a:rPr lang="en-US" smtClean="0"/>
              <a:t>Oracle Zero Data Loss Recovery Appliance Storage Server RA23 is based on Oracle Exadata Storage Server High Capacity (HC)</a:t>
            </a:r>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11</a:t>
            </a:fld>
            <a:endParaRPr lang="en-US"/>
          </a:p>
        </p:txBody>
      </p:sp>
    </p:spTree>
    <p:extLst>
      <p:ext uri="{BB962C8B-B14F-4D97-AF65-F5344CB8AC3E}">
        <p14:creationId xmlns:p14="http://schemas.microsoft.com/office/powerpoint/2010/main" val="1920175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0" lvl="0" indent="0" algn="just">
              <a:buFontTx/>
              <a:buNone/>
            </a:pPr>
            <a:r>
              <a:rPr lang="en-US" sz="1200" b="0" kern="1200" smtClean="0">
                <a:solidFill>
                  <a:schemeClr val="tx1"/>
                </a:solidFill>
                <a:effectLst/>
                <a:latin typeface="+mn-lt"/>
                <a:ea typeface="+mn-ea"/>
                <a:cs typeface="+mn-cs"/>
              </a:rPr>
              <a:t>Ở</a:t>
            </a:r>
            <a:r>
              <a:rPr lang="en-US" sz="1200" b="0" kern="1200" baseline="0" smtClean="0">
                <a:solidFill>
                  <a:schemeClr val="tx1"/>
                </a:solidFill>
                <a:effectLst/>
                <a:latin typeface="+mn-lt"/>
                <a:ea typeface="+mn-ea"/>
                <a:cs typeface="+mn-cs"/>
              </a:rPr>
              <a:t> kiến trúc tối thiểu nhất, môi trường Recovery Appliance bao gồm 1 Recovery Appliance và 1 </a:t>
            </a:r>
            <a:r>
              <a:rPr lang="en-US" sz="1200" b="0" kern="1200" smtClean="0">
                <a:solidFill>
                  <a:schemeClr val="tx1"/>
                </a:solidFill>
                <a:effectLst/>
                <a:latin typeface="+mn-lt"/>
                <a:ea typeface="+mn-ea"/>
                <a:cs typeface="+mn-cs"/>
              </a:rPr>
              <a:t>Protected databases. Điển</a:t>
            </a:r>
            <a:r>
              <a:rPr lang="en-US" sz="1200" b="0" kern="1200" baseline="0" smtClean="0">
                <a:solidFill>
                  <a:schemeClr val="tx1"/>
                </a:solidFill>
                <a:effectLst/>
                <a:latin typeface="+mn-lt"/>
                <a:ea typeface="+mn-ea"/>
                <a:cs typeface="+mn-cs"/>
              </a:rPr>
              <a:t> hình hơn là môi trường trong ảnh trên.</a:t>
            </a:r>
          </a:p>
          <a:p>
            <a:pPr marL="0" lvl="0" indent="0" algn="just">
              <a:buFontTx/>
              <a:buNone/>
            </a:pPr>
            <a:endParaRPr lang="en-US" sz="1200" b="0" kern="1200" smtClean="0">
              <a:solidFill>
                <a:schemeClr val="tx1"/>
              </a:solidFill>
              <a:effectLst/>
              <a:latin typeface="+mn-lt"/>
              <a:ea typeface="+mn-ea"/>
              <a:cs typeface="+mn-cs"/>
            </a:endParaRPr>
          </a:p>
          <a:p>
            <a:pPr lvl="0" algn="just"/>
            <a:r>
              <a:rPr lang="en-US" sz="1200" b="1" kern="1200" smtClean="0">
                <a:solidFill>
                  <a:schemeClr val="tx1"/>
                </a:solidFill>
                <a:effectLst/>
                <a:latin typeface="+mn-lt"/>
                <a:ea typeface="+mn-ea"/>
                <a:cs typeface="+mn-cs"/>
              </a:rPr>
              <a:t>Protected databases</a:t>
            </a:r>
            <a:r>
              <a:rPr lang="en-US" sz="1200" kern="1200" smtClean="0">
                <a:solidFill>
                  <a:schemeClr val="tx1"/>
                </a:solidFill>
                <a:effectLst/>
                <a:latin typeface="+mn-lt"/>
                <a:ea typeface="+mn-ea"/>
                <a:cs typeface="+mn-cs"/>
              </a:rPr>
              <a:t>: </a:t>
            </a:r>
          </a:p>
          <a:p>
            <a:pPr marL="171450" lvl="0" indent="-171450" algn="l">
              <a:buFontTx/>
              <a:buChar char="-"/>
            </a:pPr>
            <a:r>
              <a:rPr lang="en-US" sz="1200" kern="1200" smtClean="0">
                <a:solidFill>
                  <a:schemeClr val="tx1"/>
                </a:solidFill>
                <a:effectLst/>
                <a:latin typeface="+mn-lt"/>
                <a:ea typeface="+mn-ea"/>
                <a:cs typeface="+mn-cs"/>
              </a:rPr>
              <a:t>Mỗi protected database sẽ gửi bản backup và redo real-time ( redo log theo thời gian thực) tới Recovery Appliance được</a:t>
            </a:r>
            <a:r>
              <a:rPr lang="en-US" sz="1200" kern="1200" baseline="0" smtClean="0">
                <a:solidFill>
                  <a:schemeClr val="tx1"/>
                </a:solidFill>
                <a:effectLst/>
                <a:latin typeface="+mn-lt"/>
                <a:ea typeface="+mn-ea"/>
                <a:cs typeface="+mn-cs"/>
              </a:rPr>
              <a:t> chỉ định như là 1 đích đến cho backup và recovery tập trung</a:t>
            </a:r>
            <a:r>
              <a:rPr lang="en-US" sz="1200" kern="1200" smtClean="0">
                <a:solidFill>
                  <a:schemeClr val="tx1"/>
                </a:solidFill>
                <a:effectLst/>
                <a:latin typeface="+mn-lt"/>
                <a:ea typeface="+mn-ea"/>
                <a:cs typeface="+mn-cs"/>
              </a:rPr>
              <a:t>. Protected database có thể chạy trên nhiều phiên bản của Oracle database và</a:t>
            </a:r>
            <a:r>
              <a:rPr lang="en-US" sz="1200" kern="1200" baseline="0" smtClean="0">
                <a:solidFill>
                  <a:schemeClr val="tx1"/>
                </a:solidFill>
                <a:effectLst/>
                <a:latin typeface="+mn-lt"/>
                <a:ea typeface="+mn-ea"/>
                <a:cs typeface="+mn-cs"/>
              </a:rPr>
              <a:t> có thể mixed với nhau</a:t>
            </a:r>
            <a:r>
              <a:rPr lang="en-US" sz="1200" kern="1200" smtClean="0">
                <a:solidFill>
                  <a:schemeClr val="tx1"/>
                </a:solidFill>
                <a:effectLst/>
                <a:latin typeface="+mn-lt"/>
                <a:ea typeface="+mn-ea"/>
                <a:cs typeface="+mn-cs"/>
              </a:rPr>
              <a:t>. </a:t>
            </a:r>
          </a:p>
          <a:p>
            <a:pPr marL="171450" lvl="0" indent="-171450" algn="l">
              <a:buFontTx/>
              <a:buChar char="-"/>
            </a:pPr>
            <a:r>
              <a:rPr lang="en-US" sz="1200" b="0" i="0" kern="1200" smtClean="0">
                <a:solidFill>
                  <a:schemeClr val="tx1"/>
                </a:solidFill>
                <a:effectLst/>
                <a:latin typeface="+mn-lt"/>
                <a:ea typeface="+mn-ea"/>
                <a:cs typeface="+mn-cs"/>
              </a:rPr>
              <a:t>Mỗi protected database được</a:t>
            </a:r>
            <a:r>
              <a:rPr lang="en-US" sz="1200" b="0" i="0" kern="1200" baseline="0" smtClean="0">
                <a:solidFill>
                  <a:schemeClr val="tx1"/>
                </a:solidFill>
                <a:effectLst/>
                <a:latin typeface="+mn-lt"/>
                <a:ea typeface="+mn-ea"/>
                <a:cs typeface="+mn-cs"/>
              </a:rPr>
              <a:t> cài đặt Module </a:t>
            </a:r>
            <a:r>
              <a:rPr lang="en-US" sz="1200" b="0" i="0" kern="1200" smtClean="0">
                <a:solidFill>
                  <a:schemeClr val="tx1"/>
                </a:solidFill>
                <a:effectLst/>
                <a:latin typeface="+mn-lt"/>
                <a:ea typeface="+mn-ea"/>
                <a:cs typeface="+mn-cs"/>
              </a:rPr>
              <a:t>Zero Data Loss Recovery Appliance Backup (Recovery Appliance Backup Module),</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Module này là</a:t>
            </a:r>
            <a:r>
              <a:rPr lang="en-US" sz="1200" b="0" i="0" kern="1200" baseline="0" smtClean="0">
                <a:solidFill>
                  <a:schemeClr val="tx1"/>
                </a:solidFill>
                <a:effectLst/>
                <a:latin typeface="+mn-lt"/>
                <a:ea typeface="+mn-ea"/>
                <a:cs typeface="+mn-cs"/>
              </a:rPr>
              <a:t> 1 thư viện </a:t>
            </a:r>
            <a:r>
              <a:rPr lang="en-US" sz="1200" b="0" i="0" kern="1200" smtClean="0">
                <a:solidFill>
                  <a:schemeClr val="tx1"/>
                </a:solidFill>
                <a:effectLst/>
                <a:latin typeface="+mn-lt"/>
                <a:ea typeface="+mn-ea"/>
                <a:cs typeface="+mn-cs"/>
              </a:rPr>
              <a:t>Oracle-supplied SBT mà</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RMAN sử</a:t>
            </a:r>
            <a:r>
              <a:rPr lang="en-US" sz="1200" b="0" i="0" kern="1200" baseline="0" smtClean="0">
                <a:solidFill>
                  <a:schemeClr val="tx1"/>
                </a:solidFill>
                <a:effectLst/>
                <a:latin typeface="+mn-lt"/>
                <a:ea typeface="+mn-ea"/>
                <a:cs typeface="+mn-cs"/>
              </a:rPr>
              <a:t> dụng để </a:t>
            </a:r>
            <a:r>
              <a:rPr lang="en-US" sz="1200" b="0" i="0" kern="1200" smtClean="0">
                <a:solidFill>
                  <a:schemeClr val="tx1"/>
                </a:solidFill>
                <a:effectLst/>
                <a:latin typeface="+mn-lt"/>
                <a:ea typeface="+mn-ea"/>
                <a:cs typeface="+mn-cs"/>
              </a:rPr>
              <a:t>truyền backup data qua network tới</a:t>
            </a:r>
            <a:r>
              <a:rPr lang="en-US" sz="1200" b="0" i="0" kern="1200" baseline="0" smtClean="0">
                <a:solidFill>
                  <a:schemeClr val="tx1"/>
                </a:solidFill>
                <a:effectLst/>
                <a:latin typeface="+mn-lt"/>
                <a:ea typeface="+mn-ea"/>
                <a:cs typeface="+mn-cs"/>
              </a:rPr>
              <a:t> </a:t>
            </a:r>
            <a:r>
              <a:rPr lang="en-US" sz="1200" b="0" i="0" kern="1200" smtClean="0">
                <a:solidFill>
                  <a:schemeClr val="tx1"/>
                </a:solidFill>
                <a:effectLst/>
                <a:latin typeface="+mn-lt"/>
                <a:ea typeface="+mn-ea"/>
                <a:cs typeface="+mn-cs"/>
              </a:rPr>
              <a:t>Recovery Appliance.</a:t>
            </a:r>
            <a:r>
              <a:rPr lang="en-US" smtClean="0"/>
              <a:t> </a:t>
            </a:r>
            <a:br>
              <a:rPr lang="en-US" smtClean="0"/>
            </a:br>
            <a:endParaRPr lang="en-US" sz="1050" kern="1200" smtClean="0">
              <a:solidFill>
                <a:schemeClr val="tx1"/>
              </a:solidFill>
              <a:effectLst/>
              <a:latin typeface="+mn-lt"/>
              <a:ea typeface="+mn-ea"/>
              <a:cs typeface="+mn-cs"/>
            </a:endParaRPr>
          </a:p>
          <a:p>
            <a:pPr lvl="0" algn="just"/>
            <a:r>
              <a:rPr lang="en-US" sz="1200" b="1" kern="1200" smtClean="0">
                <a:solidFill>
                  <a:schemeClr val="tx1"/>
                </a:solidFill>
                <a:effectLst/>
                <a:latin typeface="+mn-lt"/>
                <a:ea typeface="+mn-ea"/>
                <a:cs typeface="+mn-cs"/>
              </a:rPr>
              <a:t>Recovery Appliance</a:t>
            </a:r>
            <a:r>
              <a:rPr lang="en-US" sz="1200" kern="1200" smtClean="0">
                <a:solidFill>
                  <a:schemeClr val="tx1"/>
                </a:solidFill>
                <a:effectLst/>
                <a:latin typeface="+mn-lt"/>
                <a:ea typeface="+mn-ea"/>
                <a:cs typeface="+mn-cs"/>
              </a:rPr>
              <a:t>: </a:t>
            </a:r>
          </a:p>
          <a:p>
            <a:pPr marL="171450" lvl="0" indent="-171450" algn="just">
              <a:buFontTx/>
              <a:buChar char="-"/>
            </a:pPr>
            <a:r>
              <a:rPr lang="en-US" sz="1200" kern="1200" smtClean="0">
                <a:solidFill>
                  <a:schemeClr val="tx1"/>
                </a:solidFill>
                <a:effectLst/>
                <a:latin typeface="+mn-lt"/>
                <a:ea typeface="+mn-ea"/>
                <a:cs typeface="+mn-cs"/>
              </a:rPr>
              <a:t>Nhận các bản incremental backup và real-time redo từ các protected database. </a:t>
            </a:r>
          </a:p>
          <a:p>
            <a:pPr marL="171450" lvl="0" indent="-171450" algn="just">
              <a:buFontTx/>
              <a:buChar char="-"/>
            </a:pPr>
            <a:r>
              <a:rPr lang="vi-VN" sz="1200" kern="1200" smtClean="0">
                <a:solidFill>
                  <a:schemeClr val="tx1"/>
                </a:solidFill>
                <a:effectLst/>
                <a:latin typeface="+mn-lt"/>
                <a:ea typeface="+mn-ea"/>
                <a:cs typeface="+mn-cs"/>
              </a:rPr>
              <a:t>Nó liên tục xác thực các bản </a:t>
            </a:r>
            <a:r>
              <a:rPr lang="en-US" sz="1200" kern="1200" smtClean="0">
                <a:solidFill>
                  <a:schemeClr val="tx1"/>
                </a:solidFill>
                <a:effectLst/>
                <a:latin typeface="+mn-lt"/>
                <a:ea typeface="+mn-ea"/>
                <a:cs typeface="+mn-cs"/>
              </a:rPr>
              <a:t>backups</a:t>
            </a:r>
            <a:r>
              <a:rPr lang="vi-VN" sz="1200" kern="1200" smtClean="0">
                <a:solidFill>
                  <a:schemeClr val="tx1"/>
                </a:solidFill>
                <a:effectLst/>
                <a:latin typeface="+mn-lt"/>
                <a:ea typeface="+mn-ea"/>
                <a:cs typeface="+mn-cs"/>
              </a:rPr>
              <a:t> ở </a:t>
            </a:r>
            <a:r>
              <a:rPr lang="en-US" sz="1200" kern="1200" smtClean="0">
                <a:solidFill>
                  <a:schemeClr val="tx1"/>
                </a:solidFill>
                <a:effectLst/>
                <a:latin typeface="+mn-lt"/>
                <a:ea typeface="+mn-ea"/>
                <a:cs typeface="+mn-cs"/>
              </a:rPr>
              <a:t>level </a:t>
            </a:r>
            <a:r>
              <a:rPr lang="vi-VN" sz="1200" kern="1200" smtClean="0">
                <a:solidFill>
                  <a:schemeClr val="tx1"/>
                </a:solidFill>
                <a:effectLst/>
                <a:latin typeface="+mn-lt"/>
                <a:ea typeface="+mn-ea"/>
                <a:cs typeface="+mn-cs"/>
              </a:rPr>
              <a:t>Oracle</a:t>
            </a:r>
            <a:r>
              <a:rPr lang="en-US" sz="1200" kern="1200" smtClean="0">
                <a:solidFill>
                  <a:schemeClr val="tx1"/>
                </a:solidFill>
                <a:effectLst/>
                <a:latin typeface="+mn-lt"/>
                <a:ea typeface="+mn-ea"/>
                <a:cs typeface="+mn-cs"/>
              </a:rPr>
              <a:t> block</a:t>
            </a:r>
            <a:r>
              <a:rPr lang="vi-VN" sz="1200" kern="1200" smtClean="0">
                <a:solidFill>
                  <a:schemeClr val="tx1"/>
                </a:solidFill>
                <a:effectLst/>
                <a:latin typeface="+mn-lt"/>
                <a:ea typeface="+mn-ea"/>
                <a:cs typeface="+mn-cs"/>
              </a:rPr>
              <a:t> do đó đảm bảo khả năng phục hồi dữ liệu. </a:t>
            </a:r>
            <a:endParaRPr lang="en-US" sz="1200" kern="1200" smtClean="0">
              <a:solidFill>
                <a:schemeClr val="tx1"/>
              </a:solidFill>
              <a:effectLst/>
              <a:latin typeface="+mn-lt"/>
              <a:ea typeface="+mn-ea"/>
              <a:cs typeface="+mn-cs"/>
            </a:endParaRPr>
          </a:p>
          <a:p>
            <a:pPr marL="171450" lvl="0" indent="-171450" algn="just">
              <a:buFontTx/>
              <a:buChar char="-"/>
            </a:pPr>
            <a:r>
              <a:rPr lang="vi-VN" sz="1200" kern="1200" smtClean="0">
                <a:solidFill>
                  <a:schemeClr val="tx1"/>
                </a:solidFill>
                <a:effectLst/>
                <a:latin typeface="+mn-lt"/>
                <a:ea typeface="+mn-ea"/>
                <a:cs typeface="+mn-cs"/>
              </a:rPr>
              <a:t>Các bản </a:t>
            </a:r>
            <a:r>
              <a:rPr lang="en-US" sz="1200" kern="1200" smtClean="0">
                <a:solidFill>
                  <a:schemeClr val="tx1"/>
                </a:solidFill>
                <a:effectLst/>
                <a:latin typeface="+mn-lt"/>
                <a:ea typeface="+mn-ea"/>
                <a:cs typeface="+mn-cs"/>
              </a:rPr>
              <a:t>backups</a:t>
            </a:r>
            <a:r>
              <a:rPr lang="en-US" sz="1200" kern="1200" baseline="0" smtClean="0">
                <a:solidFill>
                  <a:schemeClr val="tx1"/>
                </a:solidFill>
                <a:effectLst/>
                <a:latin typeface="+mn-lt"/>
                <a:ea typeface="+mn-ea"/>
                <a:cs typeface="+mn-cs"/>
              </a:rPr>
              <a:t> </a:t>
            </a:r>
            <a:r>
              <a:rPr lang="vi-VN" sz="1200" kern="1200" smtClean="0">
                <a:solidFill>
                  <a:schemeClr val="tx1"/>
                </a:solidFill>
                <a:effectLst/>
                <a:latin typeface="+mn-lt"/>
                <a:ea typeface="+mn-ea"/>
                <a:cs typeface="+mn-cs"/>
              </a:rPr>
              <a:t>được nén để tối ưu hóa việc sử dụng </a:t>
            </a:r>
            <a:r>
              <a:rPr lang="en-US" sz="1200" kern="1200" smtClean="0">
                <a:solidFill>
                  <a:schemeClr val="tx1"/>
                </a:solidFill>
                <a:effectLst/>
                <a:latin typeface="+mn-lt"/>
                <a:ea typeface="+mn-ea"/>
                <a:cs typeface="+mn-cs"/>
              </a:rPr>
              <a:t>storage</a:t>
            </a:r>
            <a:r>
              <a:rPr lang="en-US" sz="1200" kern="1200" baseline="0" smtClean="0">
                <a:solidFill>
                  <a:schemeClr val="tx1"/>
                </a:solidFill>
                <a:effectLst/>
                <a:latin typeface="+mn-lt"/>
                <a:ea typeface="+mn-ea"/>
                <a:cs typeface="+mn-cs"/>
              </a:rPr>
              <a:t> </a:t>
            </a:r>
            <a:r>
              <a:rPr lang="vi-VN" sz="1200" kern="1200" smtClean="0">
                <a:solidFill>
                  <a:schemeClr val="tx1"/>
                </a:solidFill>
                <a:effectLst/>
                <a:latin typeface="+mn-lt"/>
                <a:ea typeface="+mn-ea"/>
                <a:cs typeface="+mn-cs"/>
              </a:rPr>
              <a:t>trước khi chúng được lưu trữ trong delta store. </a:t>
            </a:r>
            <a:endParaRPr lang="en-US" sz="1200" kern="1200" smtClean="0">
              <a:solidFill>
                <a:schemeClr val="tx1"/>
              </a:solidFill>
              <a:effectLst/>
              <a:latin typeface="+mn-lt"/>
              <a:ea typeface="+mn-ea"/>
              <a:cs typeface="+mn-cs"/>
            </a:endParaRPr>
          </a:p>
          <a:p>
            <a:pPr marL="171450" lvl="0" indent="-171450" algn="just">
              <a:buFontTx/>
              <a:buChar char="-"/>
            </a:pPr>
            <a:r>
              <a:rPr lang="en-US" sz="1200" kern="1200" smtClean="0">
                <a:solidFill>
                  <a:schemeClr val="tx1"/>
                </a:solidFill>
                <a:effectLst/>
                <a:latin typeface="+mn-lt"/>
                <a:ea typeface="+mn-ea"/>
                <a:cs typeface="+mn-cs"/>
              </a:rPr>
              <a:t>D</a:t>
            </a:r>
            <a:r>
              <a:rPr lang="vi-VN" sz="1200" kern="1200" smtClean="0">
                <a:solidFill>
                  <a:schemeClr val="tx1"/>
                </a:solidFill>
                <a:effectLst/>
                <a:latin typeface="+mn-lt"/>
                <a:ea typeface="+mn-ea"/>
                <a:cs typeface="+mn-cs"/>
              </a:rPr>
              <a:t>elta store</a:t>
            </a:r>
            <a:r>
              <a:rPr lang="en-US" sz="1200" kern="1200" smtClean="0">
                <a:solidFill>
                  <a:schemeClr val="tx1"/>
                </a:solidFill>
                <a:effectLst/>
                <a:latin typeface="+mn-lt"/>
                <a:ea typeface="+mn-ea"/>
                <a:cs typeface="+mn-cs"/>
              </a:rPr>
              <a:t> </a:t>
            </a:r>
            <a:r>
              <a:rPr lang="vi-VN" sz="1200" kern="1200" smtClean="0">
                <a:solidFill>
                  <a:schemeClr val="tx1"/>
                </a:solidFill>
                <a:effectLst/>
                <a:latin typeface="+mn-lt"/>
                <a:ea typeface="+mn-ea"/>
                <a:cs typeface="+mn-cs"/>
              </a:rPr>
              <a:t>là tổng của tất cả dung lượng Recovery Appliance storage</a:t>
            </a:r>
            <a:r>
              <a:rPr lang="en-US" sz="1200" kern="1200" smtClean="0">
                <a:solidFill>
                  <a:schemeClr val="tx1"/>
                </a:solidFill>
                <a:effectLst/>
                <a:latin typeface="+mn-lt"/>
                <a:ea typeface="+mn-ea"/>
                <a:cs typeface="+mn-cs"/>
              </a:rPr>
              <a:t> </a:t>
            </a:r>
            <a:r>
              <a:rPr lang="vi-VN" sz="1200" kern="1200" smtClean="0">
                <a:solidFill>
                  <a:schemeClr val="tx1"/>
                </a:solidFill>
                <a:effectLst/>
                <a:latin typeface="+mn-lt"/>
                <a:ea typeface="+mn-ea"/>
                <a:cs typeface="+mn-cs"/>
              </a:rPr>
              <a:t>được sử dụng để lưu trữ dữ liệu </a:t>
            </a:r>
            <a:r>
              <a:rPr lang="en-US" sz="1200" kern="1200" smtClean="0">
                <a:solidFill>
                  <a:schemeClr val="tx1"/>
                </a:solidFill>
                <a:effectLst/>
                <a:latin typeface="+mn-lt"/>
                <a:ea typeface="+mn-ea"/>
                <a:cs typeface="+mn-cs"/>
              </a:rPr>
              <a:t>backup database</a:t>
            </a:r>
            <a:r>
              <a:rPr lang="vi-VN" sz="1200" kern="1200" smtClean="0">
                <a:solidFill>
                  <a:schemeClr val="tx1"/>
                </a:solidFill>
                <a:effectLst/>
                <a:latin typeface="+mn-lt"/>
                <a:ea typeface="+mn-ea"/>
                <a:cs typeface="+mn-cs"/>
              </a:rPr>
              <a:t>. </a:t>
            </a:r>
            <a:endParaRPr lang="en-US" sz="1200" kern="1200" smtClean="0">
              <a:solidFill>
                <a:schemeClr val="tx1"/>
              </a:solidFill>
              <a:effectLst/>
              <a:latin typeface="+mn-lt"/>
              <a:ea typeface="+mn-ea"/>
              <a:cs typeface="+mn-cs"/>
            </a:endParaRPr>
          </a:p>
          <a:p>
            <a:pPr marL="171450" lvl="0" indent="-171450" algn="just">
              <a:buFontTx/>
              <a:buChar char="-"/>
            </a:pPr>
            <a:r>
              <a:rPr lang="vi-VN" sz="1200" kern="1200" smtClean="0">
                <a:solidFill>
                  <a:schemeClr val="tx1"/>
                </a:solidFill>
                <a:effectLst/>
                <a:latin typeface="+mn-lt"/>
                <a:ea typeface="+mn-ea"/>
                <a:cs typeface="+mn-cs"/>
              </a:rPr>
              <a:t>Tất cả các</a:t>
            </a:r>
            <a:r>
              <a:rPr lang="en-US" sz="1200" kern="1200" smtClean="0">
                <a:solidFill>
                  <a:schemeClr val="tx1"/>
                </a:solidFill>
                <a:effectLst/>
                <a:latin typeface="+mn-lt"/>
                <a:ea typeface="+mn-ea"/>
                <a:cs typeface="+mn-cs"/>
              </a:rPr>
              <a:t> bản</a:t>
            </a:r>
            <a:r>
              <a:rPr lang="en-US" sz="1200" kern="1200" baseline="0" smtClean="0">
                <a:solidFill>
                  <a:schemeClr val="tx1"/>
                </a:solidFill>
                <a:effectLst/>
                <a:latin typeface="+mn-lt"/>
                <a:ea typeface="+mn-ea"/>
                <a:cs typeface="+mn-cs"/>
              </a:rPr>
              <a:t> backup data file và archived redo log</a:t>
            </a:r>
            <a:r>
              <a:rPr lang="vi-VN" sz="1200" kern="1200" smtClean="0">
                <a:solidFill>
                  <a:schemeClr val="tx1"/>
                </a:solidFill>
                <a:effectLst/>
                <a:latin typeface="+mn-lt"/>
                <a:ea typeface="+mn-ea"/>
                <a:cs typeface="+mn-cs"/>
              </a:rPr>
              <a:t> được lưu trữ </a:t>
            </a:r>
            <a:r>
              <a:rPr lang="en-US" sz="1200" kern="1200" smtClean="0">
                <a:solidFill>
                  <a:schemeClr val="tx1"/>
                </a:solidFill>
                <a:effectLst/>
                <a:latin typeface="+mn-lt"/>
                <a:ea typeface="+mn-ea"/>
                <a:cs typeface="+mn-cs"/>
              </a:rPr>
              <a:t>trong</a:t>
            </a:r>
            <a:r>
              <a:rPr lang="en-US" sz="1200" kern="1200" baseline="0" smtClean="0">
                <a:solidFill>
                  <a:schemeClr val="tx1"/>
                </a:solidFill>
                <a:effectLst/>
                <a:latin typeface="+mn-lt"/>
                <a:ea typeface="+mn-ea"/>
                <a:cs typeface="+mn-cs"/>
              </a:rPr>
              <a:t> </a:t>
            </a:r>
            <a:r>
              <a:rPr lang="vi-VN" sz="1200" kern="1200" smtClean="0">
                <a:solidFill>
                  <a:schemeClr val="tx1"/>
                </a:solidFill>
                <a:effectLst/>
                <a:latin typeface="+mn-lt"/>
                <a:ea typeface="+mn-ea"/>
                <a:cs typeface="+mn-cs"/>
              </a:rPr>
              <a:t>delta</a:t>
            </a:r>
            <a:r>
              <a:rPr lang="en-US" sz="1200" kern="1200" smtClean="0">
                <a:solidFill>
                  <a:schemeClr val="tx1"/>
                </a:solidFill>
                <a:effectLst/>
                <a:latin typeface="+mn-lt"/>
                <a:ea typeface="+mn-ea"/>
                <a:cs typeface="+mn-cs"/>
              </a:rPr>
              <a:t> store</a:t>
            </a:r>
            <a:r>
              <a:rPr lang="vi-VN" sz="1200" kern="1200" smtClean="0">
                <a:solidFill>
                  <a:schemeClr val="tx1"/>
                </a:solidFill>
                <a:effectLst/>
                <a:latin typeface="+mn-lt"/>
                <a:ea typeface="+mn-ea"/>
                <a:cs typeface="+mn-cs"/>
              </a:rPr>
              <a:t>. </a:t>
            </a:r>
            <a:endParaRPr lang="en-US" sz="1200" kern="1200" smtClean="0">
              <a:solidFill>
                <a:schemeClr val="tx1"/>
              </a:solidFill>
              <a:effectLst/>
              <a:latin typeface="+mn-lt"/>
              <a:ea typeface="+mn-ea"/>
              <a:cs typeface="+mn-cs"/>
            </a:endParaRPr>
          </a:p>
          <a:p>
            <a:pPr marL="171450" lvl="0" indent="-171450" algn="just">
              <a:buFontTx/>
              <a:buChar char="-"/>
            </a:pPr>
            <a:r>
              <a:rPr lang="vi-VN" sz="1200" kern="1200" smtClean="0">
                <a:solidFill>
                  <a:schemeClr val="tx1"/>
                </a:solidFill>
                <a:effectLst/>
                <a:latin typeface="+mn-lt"/>
                <a:ea typeface="+mn-ea"/>
                <a:cs typeface="+mn-cs"/>
              </a:rPr>
              <a:t>Recovery Appliance tạo các bản virtual full backups</a:t>
            </a:r>
            <a:r>
              <a:rPr lang="en-US" sz="1200" kern="1200" smtClean="0">
                <a:solidFill>
                  <a:schemeClr val="tx1"/>
                </a:solidFill>
                <a:effectLst/>
                <a:latin typeface="+mn-lt"/>
                <a:ea typeface="+mn-ea"/>
                <a:cs typeface="+mn-cs"/>
              </a:rPr>
              <a:t> của</a:t>
            </a:r>
            <a:r>
              <a:rPr lang="en-US" sz="1200" kern="1200" baseline="0" smtClean="0">
                <a:solidFill>
                  <a:schemeClr val="tx1"/>
                </a:solidFill>
                <a:effectLst/>
                <a:latin typeface="+mn-lt"/>
                <a:ea typeface="+mn-ea"/>
                <a:cs typeface="+mn-cs"/>
              </a:rPr>
              <a:t> </a:t>
            </a:r>
            <a:r>
              <a:rPr lang="vi-VN" sz="1200" kern="1200" smtClean="0">
                <a:solidFill>
                  <a:schemeClr val="tx1"/>
                </a:solidFill>
                <a:effectLst/>
                <a:latin typeface="+mn-lt"/>
                <a:ea typeface="+mn-ea"/>
                <a:cs typeface="+mn-cs"/>
              </a:rPr>
              <a:t>protected database</a:t>
            </a:r>
            <a:r>
              <a:rPr lang="en-US" sz="1200" kern="1200" smtClean="0">
                <a:solidFill>
                  <a:schemeClr val="tx1"/>
                </a:solidFill>
                <a:effectLst/>
                <a:latin typeface="+mn-lt"/>
                <a:ea typeface="+mn-ea"/>
                <a:cs typeface="+mn-cs"/>
              </a:rPr>
              <a:t>s</a:t>
            </a:r>
            <a:r>
              <a:rPr lang="vi-VN" sz="1200" kern="1200" smtClean="0">
                <a:solidFill>
                  <a:schemeClr val="tx1"/>
                </a:solidFill>
                <a:effectLst/>
                <a:latin typeface="+mn-lt"/>
                <a:ea typeface="+mn-ea"/>
                <a:cs typeface="+mn-cs"/>
              </a:rPr>
              <a:t>, là một database image</a:t>
            </a:r>
            <a:r>
              <a:rPr lang="en-US" sz="1200" kern="1200" smtClean="0">
                <a:solidFill>
                  <a:schemeClr val="tx1"/>
                </a:solidFill>
                <a:effectLst/>
                <a:latin typeface="+mn-lt"/>
                <a:ea typeface="+mn-ea"/>
                <a:cs typeface="+mn-cs"/>
              </a:rPr>
              <a:t> </a:t>
            </a:r>
            <a:r>
              <a:rPr lang="vi-VN" sz="1200" kern="1200" smtClean="0">
                <a:solidFill>
                  <a:schemeClr val="tx1"/>
                </a:solidFill>
                <a:effectLst/>
                <a:latin typeface="+mn-lt"/>
                <a:ea typeface="+mn-ea"/>
                <a:cs typeface="+mn-cs"/>
              </a:rPr>
              <a:t>hoàn chỉnh tại một thời điểm riêng biệt.</a:t>
            </a:r>
            <a:endParaRPr lang="en-US" sz="1200" kern="1200" smtClean="0">
              <a:solidFill>
                <a:schemeClr val="tx1"/>
              </a:solidFill>
              <a:effectLst/>
              <a:latin typeface="+mn-lt"/>
              <a:ea typeface="+mn-ea"/>
              <a:cs typeface="+mn-cs"/>
            </a:endParaRPr>
          </a:p>
          <a:p>
            <a:pPr marL="0" lvl="0" indent="0" algn="just">
              <a:buFontTx/>
              <a:buNone/>
            </a:pPr>
            <a:endParaRPr lang="en-US" sz="1200" kern="1200" smtClean="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Replicate Appliance</a:t>
            </a:r>
            <a:r>
              <a:rPr lang="en-US" sz="1200" kern="1200" smtClean="0">
                <a:solidFill>
                  <a:schemeClr val="tx1"/>
                </a:solidFill>
                <a:effectLst/>
                <a:latin typeface="+mn-lt"/>
                <a:ea typeface="+mn-ea"/>
                <a:cs typeface="+mn-cs"/>
              </a:rPr>
              <a:t>: </a:t>
            </a:r>
          </a:p>
          <a:p>
            <a:pPr marL="171450" lvl="0" indent="-171450" algn="just">
              <a:buFontTx/>
              <a:buChar char="-"/>
            </a:pPr>
            <a:r>
              <a:rPr lang="en-US" smtClean="0"/>
              <a:t>Để</a:t>
            </a:r>
            <a:r>
              <a:rPr lang="en-US" baseline="0" smtClean="0"/>
              <a:t> dự phòng thảm họa (</a:t>
            </a:r>
            <a:r>
              <a:rPr lang="en-US" smtClean="0"/>
              <a:t>disaster recovery), Recovery Appliance can replicate protected database backups to other Recovery Appliances. When you configure replication, a Recovery Appliance (called the upstream Recovery Appliance) forwards backups to another Recovery Appliance (called the downstream Recovery Appliance). Recovery Appliance supports a wide variety of replication topologies.</a:t>
            </a:r>
          </a:p>
          <a:p>
            <a:pPr marL="171450" lvl="0" indent="-171450" algn="just">
              <a:buFontTx/>
              <a:buChar char="-"/>
            </a:pPr>
            <a:r>
              <a:rPr lang="en-US" smtClean="0"/>
              <a:t>Hình</a:t>
            </a:r>
            <a:r>
              <a:rPr lang="en-US" baseline="0" smtClean="0"/>
              <a:t> trên </a:t>
            </a:r>
            <a:r>
              <a:rPr lang="en-US" smtClean="0"/>
              <a:t>shows the central Recovery Appliance replicating backups to a second Recovery Appliance, which in turn forwards these backups to a third Recovery Appliance.</a:t>
            </a:r>
            <a:endParaRPr lang="en-US" sz="1200" kern="1200" smtClean="0">
              <a:solidFill>
                <a:schemeClr val="tx1"/>
              </a:solidFill>
              <a:effectLst/>
              <a:latin typeface="+mn-lt"/>
              <a:ea typeface="+mn-ea"/>
              <a:cs typeface="+mn-cs"/>
            </a:endParaRPr>
          </a:p>
          <a:p>
            <a:pPr marL="0" lvl="0" indent="0" algn="just">
              <a:buFontTx/>
              <a:buNone/>
            </a:pPr>
            <a:r>
              <a:rPr lang="en-US" smtClean="0"/>
              <a:t> </a:t>
            </a:r>
            <a:endParaRPr lang="en-US" sz="1200" kern="1200" smtClean="0">
              <a:solidFill>
                <a:schemeClr val="tx1"/>
              </a:solidFill>
              <a:effectLst/>
              <a:latin typeface="+mn-lt"/>
              <a:ea typeface="+mn-ea"/>
              <a:cs typeface="+mn-cs"/>
            </a:endParaRPr>
          </a:p>
          <a:p>
            <a:pPr marL="0" lvl="0" indent="0" algn="just">
              <a:buFontTx/>
              <a:buNone/>
            </a:pPr>
            <a:r>
              <a:rPr lang="en-US" sz="1200" b="1" kern="1200" smtClean="0">
                <a:solidFill>
                  <a:schemeClr val="tx1"/>
                </a:solidFill>
                <a:effectLst/>
                <a:latin typeface="+mn-lt"/>
                <a:ea typeface="+mn-ea"/>
                <a:cs typeface="+mn-cs"/>
              </a:rPr>
              <a:t>Recovery Appliance metadata database</a:t>
            </a:r>
            <a:r>
              <a:rPr lang="en-US" sz="1200" kern="1200" smtClean="0">
                <a:solidFill>
                  <a:schemeClr val="tx1"/>
                </a:solidFill>
                <a:effectLst/>
                <a:latin typeface="+mn-lt"/>
                <a:ea typeface="+mn-ea"/>
                <a:cs typeface="+mn-cs"/>
              </a:rPr>
              <a:t> (database chạy bên trong Recovery Appliance). Database này lưu trữ dữ liệu cấu hình user definitions, protection policy definitions, and client database definitions. Metadata database lưu trữ các bản backup metadata, bao gồm cả nội dung của delta store). Database này bao gồm các thành phần sau: </a:t>
            </a:r>
            <a:endParaRPr lang="en-US" sz="1050" kern="1200" smtClean="0">
              <a:solidFill>
                <a:schemeClr val="tx1"/>
              </a:solidFill>
              <a:effectLst/>
              <a:latin typeface="+mn-lt"/>
              <a:ea typeface="+mn-ea"/>
              <a:cs typeface="+mn-cs"/>
            </a:endParaRPr>
          </a:p>
          <a:p>
            <a:pPr marL="171450" lvl="0" indent="-171450" algn="just">
              <a:buFontTx/>
              <a:buChar char="-"/>
            </a:pPr>
            <a:r>
              <a:rPr lang="en-US" sz="1200" kern="1200" smtClean="0">
                <a:solidFill>
                  <a:schemeClr val="tx1"/>
                </a:solidFill>
                <a:effectLst/>
                <a:latin typeface="+mn-lt"/>
                <a:ea typeface="+mn-ea"/>
                <a:cs typeface="+mn-cs"/>
              </a:rPr>
              <a:t>RMAN recovery catalog, được chia thành nhiều virtual recovery catalog</a:t>
            </a:r>
            <a:r>
              <a:rPr lang="en-US" sz="1200" kern="1200" baseline="0" smtClean="0">
                <a:solidFill>
                  <a:schemeClr val="tx1"/>
                </a:solidFill>
                <a:effectLst/>
                <a:latin typeface="+mn-lt"/>
                <a:ea typeface="+mn-ea"/>
                <a:cs typeface="+mn-cs"/>
              </a:rPr>
              <a:t> (</a:t>
            </a:r>
            <a:r>
              <a:rPr lang="vi-VN" sz="1200" b="0" i="0" kern="1200" smtClean="0">
                <a:solidFill>
                  <a:schemeClr val="tx1"/>
                </a:solidFill>
                <a:effectLst/>
                <a:latin typeface="+mn-lt"/>
                <a:ea typeface="+mn-ea"/>
                <a:cs typeface="+mn-cs"/>
              </a:rPr>
              <a:t>Recovery catalog lưu trữ metadata về các bản sao lưu, giúp quản lý và khôi phục dữ liệu dễ dàng hơn</a:t>
            </a:r>
            <a:r>
              <a:rPr lang="en-US" sz="1200" b="0" i="0" kern="1200" smtClean="0">
                <a:solidFill>
                  <a:schemeClr val="tx1"/>
                </a:solidFill>
                <a:effectLst/>
                <a:latin typeface="+mn-lt"/>
                <a:ea typeface="+mn-ea"/>
                <a:cs typeface="+mn-cs"/>
              </a:rPr>
              <a:t>)</a:t>
            </a:r>
            <a:endParaRPr lang="en-US" sz="1050" kern="1200" smtClean="0">
              <a:solidFill>
                <a:schemeClr val="tx1"/>
              </a:solidFill>
              <a:effectLst/>
              <a:latin typeface="+mn-lt"/>
              <a:ea typeface="+mn-ea"/>
              <a:cs typeface="+mn-cs"/>
            </a:endParaRPr>
          </a:p>
          <a:p>
            <a:pPr marL="171450" lvl="0" indent="-171450" algn="just">
              <a:buFontTx/>
              <a:buChar char="-"/>
            </a:pPr>
            <a:r>
              <a:rPr lang="en-US" sz="1200" kern="1200" smtClean="0">
                <a:solidFill>
                  <a:schemeClr val="tx1"/>
                </a:solidFill>
                <a:effectLst/>
                <a:latin typeface="+mn-lt"/>
                <a:ea typeface="+mn-ea"/>
                <a:cs typeface="+mn-cs"/>
              </a:rPr>
              <a:t>Một hoặc nhiều </a:t>
            </a:r>
            <a:r>
              <a:rPr lang="en-US" smtClean="0"/>
              <a:t>storage locations</a:t>
            </a:r>
            <a:r>
              <a:rPr lang="en-US" sz="1200" kern="1200" smtClean="0">
                <a:solidFill>
                  <a:schemeClr val="tx1"/>
                </a:solidFill>
                <a:effectLst/>
                <a:latin typeface="+mn-lt"/>
                <a:ea typeface="+mn-ea"/>
                <a:cs typeface="+mn-cs"/>
              </a:rPr>
              <a:t>. Recovery Appliance storage chứa delta store. Delta store chứa các delta pool</a:t>
            </a:r>
          </a:p>
          <a:p>
            <a:pPr marL="0" lvl="0" indent="0" algn="just">
              <a:buFontTx/>
              <a:buNone/>
            </a:pPr>
            <a:endParaRPr lang="en-US" sz="1050" kern="1200" smtClean="0">
              <a:solidFill>
                <a:schemeClr val="tx1"/>
              </a:solidFill>
              <a:effectLst/>
              <a:latin typeface="+mn-lt"/>
              <a:ea typeface="+mn-ea"/>
              <a:cs typeface="+mn-cs"/>
            </a:endParaRPr>
          </a:p>
          <a:p>
            <a:pPr lvl="0" algn="just"/>
            <a:r>
              <a:rPr lang="en-US" sz="1200" b="1" kern="1200" smtClean="0">
                <a:solidFill>
                  <a:schemeClr val="tx1"/>
                </a:solidFill>
                <a:effectLst/>
                <a:latin typeface="+mn-lt"/>
                <a:ea typeface="+mn-ea"/>
                <a:cs typeface="+mn-cs"/>
              </a:rPr>
              <a:t>Oracle Enterprise Manager Cloud Control</a:t>
            </a:r>
            <a:r>
              <a:rPr lang="en-US" sz="1200" kern="1200" smtClean="0">
                <a:solidFill>
                  <a:schemeClr val="tx1"/>
                </a:solidFill>
                <a:effectLst/>
                <a:latin typeface="+mn-lt"/>
                <a:ea typeface="+mn-ea"/>
                <a:cs typeface="+mn-cs"/>
              </a:rPr>
              <a:t>: </a:t>
            </a:r>
          </a:p>
          <a:p>
            <a:pPr marL="171450" lvl="0" indent="-171450" algn="just">
              <a:buFontTx/>
              <a:buChar char="-"/>
            </a:pPr>
            <a:r>
              <a:rPr lang="en-US" sz="1200" kern="1200" smtClean="0">
                <a:solidFill>
                  <a:schemeClr val="tx1"/>
                </a:solidFill>
                <a:effectLst/>
                <a:latin typeface="+mn-lt"/>
                <a:ea typeface="+mn-ea"/>
                <a:cs typeface="+mn-cs"/>
              </a:rPr>
              <a:t>Có thể cài ảo hóa hoặc cài trên server vật lý riêng, dùng để quản lý các Recovery Appliances, protected databases, thiết bị tape.</a:t>
            </a:r>
          </a:p>
          <a:p>
            <a:pPr marL="171450" lvl="0" indent="-171450" algn="just">
              <a:buFontTx/>
              <a:buChar char="-"/>
            </a:pPr>
            <a:r>
              <a:rPr lang="en-US" sz="1050" smtClean="0"/>
              <a:t>You can use Cloud Control to back up, recover, and report on protected databases.</a:t>
            </a:r>
          </a:p>
          <a:p>
            <a:pPr marL="171450" lvl="0" indent="-171450" algn="just">
              <a:buFontTx/>
              <a:buChar char="-"/>
            </a:pPr>
            <a:endParaRPr lang="en-US" sz="1050" smtClean="0"/>
          </a:p>
          <a:p>
            <a:pPr marL="0" lvl="0" indent="0" algn="just">
              <a:buFontTx/>
              <a:buNone/>
            </a:pPr>
            <a:r>
              <a:rPr lang="en-US" sz="1050" b="1" smtClean="0"/>
              <a:t>Oracle Secure Backup:</a:t>
            </a:r>
          </a:p>
          <a:p>
            <a:pPr marL="0" lvl="0" indent="0" algn="just">
              <a:buFontTx/>
              <a:buNone/>
            </a:pPr>
            <a:r>
              <a:rPr lang="en-US" sz="1050" b="0" smtClean="0"/>
              <a:t>- Là</a:t>
            </a:r>
            <a:r>
              <a:rPr lang="en-US" sz="1050" b="0" baseline="0" smtClean="0"/>
              <a:t> </a:t>
            </a:r>
            <a:r>
              <a:rPr lang="vi-VN" sz="1050" b="0" smtClean="0"/>
              <a:t>thành phần quản lý </a:t>
            </a:r>
            <a:r>
              <a:rPr lang="en-US" sz="1050" b="0" smtClean="0"/>
              <a:t>tape</a:t>
            </a:r>
            <a:r>
              <a:rPr lang="vi-VN" sz="1050" b="0" smtClean="0"/>
              <a:t> của Recovery Appliance, được cài đặt sẵn trên Recovery Appliance và được sử dụng để lưu trữ bản sao lưu vào thư viện </a:t>
            </a:r>
            <a:r>
              <a:rPr lang="en-US" sz="1050" b="0" smtClean="0"/>
              <a:t>tape</a:t>
            </a:r>
            <a:r>
              <a:rPr lang="vi-VN" sz="1050" b="0" smtClean="0"/>
              <a:t>.</a:t>
            </a:r>
            <a:endParaRPr lang="en-US" sz="1050" b="0" smtClean="0"/>
          </a:p>
          <a:p>
            <a:pPr marL="0" lvl="0" indent="0" algn="just">
              <a:buFontTx/>
              <a:buNone/>
            </a:pPr>
            <a:endParaRPr lang="en-US" sz="1050" b="1" smtClean="0"/>
          </a:p>
          <a:p>
            <a:pPr marL="0" lvl="0" indent="0" algn="just">
              <a:buFontTx/>
              <a:buNone/>
            </a:pPr>
            <a:endParaRPr lang="en-US" sz="1050" b="1" smtClean="0"/>
          </a:p>
          <a:p>
            <a:pPr marL="171450" lvl="0" indent="-171450" algn="just">
              <a:buFontTx/>
              <a:buChar char="-"/>
            </a:pPr>
            <a:endParaRPr lang="en-US" sz="1050" kern="1200" smtClean="0">
              <a:solidFill>
                <a:schemeClr val="tx1"/>
              </a:solidFill>
              <a:effectLst/>
              <a:latin typeface="+mn-lt"/>
              <a:ea typeface="+mn-ea"/>
              <a:cs typeface="+mn-cs"/>
            </a:endParaRPr>
          </a:p>
          <a:p>
            <a:pPr marL="171450" lvl="0" indent="-171450" algn="just">
              <a:buFontTx/>
              <a:buChar char="-"/>
            </a:pPr>
            <a:endParaRPr lang="en-US" sz="1050" kern="1200" smtClean="0">
              <a:solidFill>
                <a:schemeClr val="tx1"/>
              </a:solidFill>
              <a:effectLst/>
              <a:latin typeface="+mn-lt"/>
              <a:ea typeface="+mn-ea"/>
              <a:cs typeface="+mn-cs"/>
            </a:endParaRPr>
          </a:p>
          <a:p>
            <a:pPr algn="just"/>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12</a:t>
            </a:fld>
            <a:endParaRPr lang="en-US"/>
          </a:p>
        </p:txBody>
      </p:sp>
    </p:spTree>
    <p:extLst>
      <p:ext uri="{BB962C8B-B14F-4D97-AF65-F5344CB8AC3E}">
        <p14:creationId xmlns:p14="http://schemas.microsoft.com/office/powerpoint/2010/main" val="1314827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13</a:t>
            </a:fld>
            <a:endParaRPr lang="en-US"/>
          </a:p>
        </p:txBody>
      </p:sp>
    </p:spTree>
    <p:extLst>
      <p:ext uri="{BB962C8B-B14F-4D97-AF65-F5344CB8AC3E}">
        <p14:creationId xmlns:p14="http://schemas.microsoft.com/office/powerpoint/2010/main" val="2019013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lgn="just"/>
            <a:r>
              <a:rPr lang="en-US" sz="1200" b="1" kern="1200" smtClean="0">
                <a:solidFill>
                  <a:schemeClr val="tx1"/>
                </a:solidFill>
                <a:effectLst/>
                <a:latin typeface="+mn-lt"/>
                <a:ea typeface="+mn-ea"/>
                <a:cs typeface="+mn-cs"/>
              </a:rPr>
              <a:t>Real-Time Redo Transport</a:t>
            </a:r>
            <a:r>
              <a:rPr lang="en-US" sz="1200" kern="1200" smtClean="0">
                <a:solidFill>
                  <a:schemeClr val="tx1"/>
                </a:solidFill>
                <a:effectLst/>
                <a:latin typeface="+mn-lt"/>
                <a:ea typeface="+mn-ea"/>
                <a:cs typeface="+mn-cs"/>
              </a:rPr>
              <a:t>: </a:t>
            </a:r>
          </a:p>
          <a:p>
            <a:pPr algn="just"/>
            <a:r>
              <a:rPr lang="en-US" sz="1200" kern="1200" smtClean="0">
                <a:solidFill>
                  <a:schemeClr val="tx1"/>
                </a:solidFill>
                <a:effectLst/>
                <a:latin typeface="+mn-lt"/>
                <a:ea typeface="+mn-ea"/>
                <a:cs typeface="+mn-cs"/>
              </a:rPr>
              <a:t>Các thay đổi của database được gửi trực tiếp từ memory của máy chủ database đến Recovery Appliance, bảo vệ dữ liệu theo thời gian thực. Bảo vệ database đến giây cuối cùng.</a:t>
            </a:r>
          </a:p>
          <a:p>
            <a:pPr algn="just"/>
            <a:r>
              <a:rPr lang="en-US" sz="1200" kern="1200" smtClean="0">
                <a:solidFill>
                  <a:schemeClr val="tx1"/>
                </a:solidFill>
                <a:effectLst/>
                <a:latin typeface="+mn-lt"/>
                <a:ea typeface="+mn-ea"/>
                <a:cs typeface="+mn-cs"/>
              </a:rPr>
              <a:t> </a:t>
            </a:r>
          </a:p>
          <a:p>
            <a:pPr algn="just"/>
            <a:r>
              <a:rPr lang="en-US" sz="1200" b="1" kern="1200" smtClean="0">
                <a:solidFill>
                  <a:schemeClr val="tx1"/>
                </a:solidFill>
                <a:effectLst/>
                <a:latin typeface="+mn-lt"/>
                <a:ea typeface="+mn-ea"/>
                <a:cs typeface="+mn-cs"/>
              </a:rPr>
              <a:t>Efficient Replication: </a:t>
            </a:r>
          </a:p>
          <a:p>
            <a:pPr marL="171450" indent="-171450" algn="just">
              <a:buFontTx/>
              <a:buChar char="-"/>
            </a:pPr>
            <a:r>
              <a:rPr lang="en-US" sz="1200" kern="1200" smtClean="0">
                <a:solidFill>
                  <a:schemeClr val="tx1"/>
                </a:solidFill>
                <a:effectLst/>
                <a:latin typeface="+mn-lt"/>
                <a:ea typeface="+mn-ea"/>
                <a:cs typeface="+mn-cs"/>
              </a:rPr>
              <a:t>Các bản backup trên Recovery Appliance trung tâm có thể được sao chép dễ dàng và nhanh chóng sang Recovery Appliance ở xa để bảo vệ dữ liệu khi có sự cố xảy ra. </a:t>
            </a:r>
          </a:p>
          <a:p>
            <a:pPr marL="171450" indent="-171450" algn="just">
              <a:buFontTx/>
              <a:buChar char="-"/>
            </a:pPr>
            <a:r>
              <a:rPr lang="en-US" sz="1200" kern="1200" smtClean="0">
                <a:solidFill>
                  <a:schemeClr val="tx1"/>
                </a:solidFill>
                <a:effectLst/>
                <a:latin typeface="+mn-lt"/>
                <a:ea typeface="+mn-ea"/>
                <a:cs typeface="+mn-cs"/>
              </a:rPr>
              <a:t>Có thể thiết lập replication đồng bộ một chiều. Hoặc có thể thiết lập đồng bộ hai chiều. Hoặc có thể đồng bộ từ nhiều nguồn local recovery appliance về một Recovery Appliance ở xa.</a:t>
            </a:r>
          </a:p>
          <a:p>
            <a:pPr algn="just"/>
            <a:endParaRPr lang="en-US" sz="1200" kern="1200" smtClean="0">
              <a:solidFill>
                <a:schemeClr val="tx1"/>
              </a:solidFill>
              <a:effectLst/>
              <a:latin typeface="+mn-lt"/>
              <a:ea typeface="+mn-ea"/>
              <a:cs typeface="+mn-cs"/>
            </a:endParaRPr>
          </a:p>
          <a:p>
            <a:pPr algn="just"/>
            <a:r>
              <a:rPr lang="en-US" b="1" smtClean="0"/>
              <a:t>Protects against data corruption</a:t>
            </a:r>
          </a:p>
          <a:p>
            <a:pPr marL="171450" indent="-171450" algn="just">
              <a:buFontTx/>
              <a:buChar char="-"/>
            </a:pPr>
            <a:r>
              <a:rPr lang="vi-VN" sz="1200" b="0" kern="1200" smtClean="0">
                <a:solidFill>
                  <a:schemeClr val="tx1"/>
                </a:solidFill>
                <a:effectLst/>
                <a:latin typeface="+mn-lt"/>
                <a:ea typeface="+mn-ea"/>
                <a:cs typeface="+mn-cs"/>
              </a:rPr>
              <a:t>Các bản sao lưu được tạo cho Recovery Appliance được xác thực liên tục để đảm bảo tính toàn vẹn của bản sao lưu cơ sở dữ liệu. </a:t>
            </a:r>
            <a:endParaRPr lang="en-US" sz="1200" b="0" kern="1200" smtClean="0">
              <a:solidFill>
                <a:schemeClr val="tx1"/>
              </a:solidFill>
              <a:effectLst/>
              <a:latin typeface="+mn-lt"/>
              <a:ea typeface="+mn-ea"/>
              <a:cs typeface="+mn-cs"/>
            </a:endParaRPr>
          </a:p>
          <a:p>
            <a:pPr marL="171450" indent="-171450" algn="just">
              <a:buFontTx/>
              <a:buChar char="-"/>
            </a:pPr>
            <a:r>
              <a:rPr lang="vi-VN" sz="1200" b="0" kern="1200" smtClean="0">
                <a:solidFill>
                  <a:schemeClr val="tx1"/>
                </a:solidFill>
                <a:effectLst/>
                <a:latin typeface="+mn-lt"/>
                <a:ea typeface="+mn-ea"/>
                <a:cs typeface="+mn-cs"/>
              </a:rPr>
              <a:t>Với </a:t>
            </a:r>
            <a:r>
              <a:rPr lang="en-US" sz="1200" b="0" kern="1200" smtClean="0">
                <a:solidFill>
                  <a:schemeClr val="tx1"/>
                </a:solidFill>
                <a:effectLst/>
                <a:latin typeface="+mn-lt"/>
                <a:ea typeface="+mn-ea"/>
                <a:cs typeface="+mn-cs"/>
              </a:rPr>
              <a:t>công</a:t>
            </a:r>
            <a:r>
              <a:rPr lang="en-US" sz="1200" b="0" kern="1200" baseline="0" smtClean="0">
                <a:solidFill>
                  <a:schemeClr val="tx1"/>
                </a:solidFill>
                <a:effectLst/>
                <a:latin typeface="+mn-lt"/>
                <a:ea typeface="+mn-ea"/>
                <a:cs typeface="+mn-cs"/>
              </a:rPr>
              <a:t> nghệ Oracle RMAN block checks, Automatic Storage Management (ASM) và Exadata data checks</a:t>
            </a:r>
            <a:r>
              <a:rPr lang="vi-VN" sz="1200" b="0" kern="1200" smtClean="0">
                <a:solidFill>
                  <a:schemeClr val="tx1"/>
                </a:solidFill>
                <a:effectLst/>
                <a:latin typeface="+mn-lt"/>
                <a:ea typeface="+mn-ea"/>
                <a:cs typeface="+mn-cs"/>
              </a:rPr>
              <a:t>, Recovery Appliance cung cấp khả năng bảo vệ tốt nhất cho cơ sở dữ liệu Oracle vượt xa các giải pháp của bên thứ ba chủ yếu dựa vào tổng kiểm tra phần cứng.</a:t>
            </a:r>
            <a:endParaRPr lang="en-US" sz="1200" b="0" kern="1200" smtClean="0">
              <a:solidFill>
                <a:schemeClr val="tx1"/>
              </a:solidFill>
              <a:effectLst/>
              <a:latin typeface="+mn-lt"/>
              <a:ea typeface="+mn-ea"/>
              <a:cs typeface="+mn-cs"/>
            </a:endParaRPr>
          </a:p>
          <a:p>
            <a:pPr marL="171450" indent="-171450" algn="just">
              <a:buFontTx/>
              <a:buChar char="-"/>
            </a:pPr>
            <a:r>
              <a:rPr lang="en-US" sz="1200" kern="1200" smtClean="0">
                <a:solidFill>
                  <a:schemeClr val="tx1"/>
                </a:solidFill>
                <a:effectLst/>
                <a:latin typeface="+mn-lt"/>
                <a:ea typeface="+mn-ea"/>
                <a:cs typeface="+mn-cs"/>
              </a:rPr>
              <a:t>Tất cả dữ liệu backup và redo block đều được xác thực tự động khi Recovery Appliance nhận được chúng, khi dữ liệu backup và redo block được sao chép vào cloud/tape và khi chúng được replicate. Ngoài ra, các block backup được xác thực định kỳ trên đĩa. Điều này đảm bảo rằng các hoạt động khôi phục sẽ luôn restore dữ liệu hợp lệ – một điểm khác biệt chỉ có thể thực hiện được nhờ tích hợp sâu vào database của Recovery Appliance. Nếu phát hiện lỗi trong quá trình xác thực, phần mềm của Recovery Appliance sẽ tự động đọc block không lỗi từ bản copy và ngay lập tức sửa chữa block bị hỏng.</a:t>
            </a:r>
          </a:p>
          <a:p>
            <a:pPr marL="171450" indent="-171450" algn="just">
              <a:buFontTx/>
              <a:buChar char="-"/>
            </a:pPr>
            <a:r>
              <a:rPr lang="en-US" sz="1200" kern="1200" smtClean="0">
                <a:solidFill>
                  <a:schemeClr val="tx1"/>
                </a:solidFill>
                <a:effectLst/>
                <a:latin typeface="+mn-lt"/>
                <a:ea typeface="+mn-ea"/>
                <a:cs typeface="+mn-cs"/>
              </a:rPr>
              <a:t>Ngoài ra, phần mềm lưu trữ Recovery Appliance còn thực hiện kiểm tra định kỳ các ổ đĩa cứng lưu trữ. Nếu phát hiện thấy ổ cứng bị bad sectors, chúng sẽ ngay lập tức được sửa chữa từ một bản copy.</a:t>
            </a:r>
            <a:endParaRPr lang="en-US" sz="1200" b="0" kern="1200" smtClean="0">
              <a:solidFill>
                <a:schemeClr val="tx1"/>
              </a:solidFill>
              <a:effectLst/>
              <a:latin typeface="+mn-lt"/>
              <a:ea typeface="+mn-ea"/>
              <a:cs typeface="+mn-cs"/>
            </a:endParaRPr>
          </a:p>
          <a:p>
            <a:pPr algn="just"/>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14</a:t>
            </a:fld>
            <a:endParaRPr lang="en-US"/>
          </a:p>
        </p:txBody>
      </p:sp>
    </p:spTree>
    <p:extLst>
      <p:ext uri="{BB962C8B-B14F-4D97-AF65-F5344CB8AC3E}">
        <p14:creationId xmlns:p14="http://schemas.microsoft.com/office/powerpoint/2010/main" val="1644509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171450" lvl="0" indent="-171450">
              <a:buFontTx/>
              <a:buChar char="-"/>
            </a:pPr>
            <a:r>
              <a:rPr lang="en-US" smtClean="0"/>
              <a:t>All backup objects archived to cloud storage are encrypted using a random Data Encryption Key (DEK). </a:t>
            </a:r>
          </a:p>
          <a:p>
            <a:pPr marL="171450" lvl="0" indent="-171450">
              <a:buFontTx/>
              <a:buChar char="-"/>
            </a:pPr>
            <a:r>
              <a:rPr lang="en-US" smtClean="0"/>
              <a:t>A Transparent Data Encryption (TDE) master key for each protected database is used to encrypt the DEK; the encrypted DEK is stored in the backup piece. </a:t>
            </a:r>
          </a:p>
          <a:p>
            <a:pPr marL="171450" lvl="0" indent="-171450">
              <a:buFontTx/>
              <a:buChar char="-"/>
            </a:pPr>
            <a:r>
              <a:rPr lang="en-US" smtClean="0"/>
              <a:t>The Oracle Key Vault (OKV) contains the TDE master keys; it does not contain the individual DEKs used to encrypt backups written to tape or cloud. </a:t>
            </a:r>
          </a:p>
          <a:p>
            <a:pPr marL="171450" lvl="0" indent="-171450">
              <a:buFontTx/>
              <a:buChar char="-"/>
            </a:pPr>
            <a:r>
              <a:rPr lang="en-US" smtClean="0"/>
              <a:t>A protected database may acquire many TDE master keys with time, so restoration of an individual archived object requires the protected database's master key in use at time of backup.</a:t>
            </a:r>
          </a:p>
          <a:p>
            <a:pPr lvl="0"/>
            <a:endParaRPr lang="en-US" sz="1200" kern="1200" smtClean="0">
              <a:solidFill>
                <a:schemeClr val="tx1"/>
              </a:solidFill>
              <a:effectLst/>
              <a:latin typeface="+mn-lt"/>
              <a:ea typeface="+mn-ea"/>
              <a:cs typeface="+mn-cs"/>
            </a:endParaRPr>
          </a:p>
          <a:p>
            <a:pPr lvl="0"/>
            <a:r>
              <a:rPr lang="en-US" sz="1200" kern="1200" smtClean="0">
                <a:solidFill>
                  <a:schemeClr val="tx1"/>
                </a:solidFill>
                <a:effectLst/>
                <a:latin typeface="+mn-lt"/>
                <a:ea typeface="+mn-ea"/>
                <a:cs typeface="+mn-cs"/>
              </a:rPr>
              <a:t>1. Các bản backup incremental được backup thường xuyên vào Recovery Appliance.</a:t>
            </a:r>
            <a:endParaRPr lang="en-US" sz="1050" kern="1200" smtClean="0">
              <a:solidFill>
                <a:schemeClr val="tx1"/>
              </a:solidFill>
              <a:effectLst/>
              <a:latin typeface="+mn-lt"/>
              <a:ea typeface="+mn-ea"/>
              <a:cs typeface="+mn-cs"/>
            </a:endParaRPr>
          </a:p>
          <a:p>
            <a:pPr lvl="0"/>
            <a:r>
              <a:rPr lang="en-US" sz="1200" kern="1200" smtClean="0">
                <a:solidFill>
                  <a:schemeClr val="tx1"/>
                </a:solidFill>
                <a:effectLst/>
                <a:latin typeface="+mn-lt"/>
                <a:ea typeface="+mn-ea"/>
                <a:cs typeface="+mn-cs"/>
              </a:rPr>
              <a:t>2. Khi lưu trữ các bản backup sang cloud, Recovery Appliance yêu cầu master encrypt key cho protected database từ máy chủ OKV.</a:t>
            </a:r>
            <a:endParaRPr lang="en-US" sz="1050" kern="1200" smtClean="0">
              <a:solidFill>
                <a:schemeClr val="tx1"/>
              </a:solidFill>
              <a:effectLst/>
              <a:latin typeface="+mn-lt"/>
              <a:ea typeface="+mn-ea"/>
              <a:cs typeface="+mn-cs"/>
            </a:endParaRPr>
          </a:p>
          <a:p>
            <a:pPr lvl="0"/>
            <a:r>
              <a:rPr lang="en-US" sz="1200" kern="1200" smtClean="0">
                <a:solidFill>
                  <a:schemeClr val="tx1"/>
                </a:solidFill>
                <a:effectLst/>
                <a:latin typeface="+mn-lt"/>
                <a:ea typeface="+mn-ea"/>
                <a:cs typeface="+mn-cs"/>
              </a:rPr>
              <a:t>3. OKV trả về master encrypt key cho protected database. Nếu protected database không tồn tại master key thì master key mới sẽ được tạo. (master key có thể được tạo bất cứ lúc nào.)</a:t>
            </a:r>
            <a:endParaRPr lang="en-US" sz="1050" kern="1200" smtClean="0">
              <a:solidFill>
                <a:schemeClr val="tx1"/>
              </a:solidFill>
              <a:effectLst/>
              <a:latin typeface="+mn-lt"/>
              <a:ea typeface="+mn-ea"/>
              <a:cs typeface="+mn-cs"/>
            </a:endParaRPr>
          </a:p>
          <a:p>
            <a:pPr lvl="1"/>
            <a:r>
              <a:rPr lang="en-US" sz="1200" kern="1200" smtClean="0">
                <a:solidFill>
                  <a:schemeClr val="tx1"/>
                </a:solidFill>
                <a:effectLst/>
                <a:latin typeface="+mn-lt"/>
                <a:ea typeface="+mn-ea"/>
                <a:cs typeface="+mn-cs"/>
              </a:rPr>
              <a:t>DEK (database</a:t>
            </a:r>
            <a:r>
              <a:rPr lang="en-US" sz="1200" kern="1200" baseline="0" smtClean="0">
                <a:solidFill>
                  <a:schemeClr val="tx1"/>
                </a:solidFill>
                <a:effectLst/>
                <a:latin typeface="+mn-lt"/>
                <a:ea typeface="+mn-ea"/>
                <a:cs typeface="+mn-cs"/>
              </a:rPr>
              <a:t> encrypt key)</a:t>
            </a:r>
            <a:r>
              <a:rPr lang="en-US" sz="1200" kern="1200" smtClean="0">
                <a:solidFill>
                  <a:schemeClr val="tx1"/>
                </a:solidFill>
                <a:effectLst/>
                <a:latin typeface="+mn-lt"/>
                <a:ea typeface="+mn-ea"/>
                <a:cs typeface="+mn-cs"/>
              </a:rPr>
              <a:t> được tạo cho các đối tượng backup.</a:t>
            </a:r>
            <a:endParaRPr lang="en-US" sz="1050" kern="1200" smtClean="0">
              <a:solidFill>
                <a:schemeClr val="tx1"/>
              </a:solidFill>
              <a:effectLst/>
              <a:latin typeface="+mn-lt"/>
              <a:ea typeface="+mn-ea"/>
              <a:cs typeface="+mn-cs"/>
            </a:endParaRPr>
          </a:p>
          <a:p>
            <a:pPr lvl="1"/>
            <a:r>
              <a:rPr lang="en-US" sz="1200" kern="1200" smtClean="0">
                <a:solidFill>
                  <a:schemeClr val="tx1"/>
                </a:solidFill>
                <a:effectLst/>
                <a:latin typeface="+mn-lt"/>
                <a:ea typeface="+mn-ea"/>
                <a:cs typeface="+mn-cs"/>
              </a:rPr>
              <a:t>Các đối tượng backup được mã hóa bằng DEK.</a:t>
            </a:r>
            <a:endParaRPr lang="en-US" sz="1050" kern="1200" smtClean="0">
              <a:solidFill>
                <a:schemeClr val="tx1"/>
              </a:solidFill>
              <a:effectLst/>
              <a:latin typeface="+mn-lt"/>
              <a:ea typeface="+mn-ea"/>
              <a:cs typeface="+mn-cs"/>
            </a:endParaRPr>
          </a:p>
          <a:p>
            <a:pPr lvl="1"/>
            <a:r>
              <a:rPr lang="en-US" sz="1200" kern="1200" smtClean="0">
                <a:solidFill>
                  <a:schemeClr val="tx1"/>
                </a:solidFill>
                <a:effectLst/>
                <a:latin typeface="+mn-lt"/>
                <a:ea typeface="+mn-ea"/>
                <a:cs typeface="+mn-cs"/>
              </a:rPr>
              <a:t>Recovery Appliance sử dụng master key để mã hóa DEK và lưu trữ khóa này cùng với đối tượng backup.</a:t>
            </a:r>
            <a:endParaRPr lang="en-US" sz="1050" kern="1200" smtClean="0">
              <a:solidFill>
                <a:schemeClr val="tx1"/>
              </a:solidFill>
              <a:effectLst/>
              <a:latin typeface="+mn-lt"/>
              <a:ea typeface="+mn-ea"/>
              <a:cs typeface="+mn-cs"/>
            </a:endParaRPr>
          </a:p>
          <a:p>
            <a:pPr lvl="0"/>
            <a:r>
              <a:rPr lang="en-US" sz="1200" kern="1200" smtClean="0">
                <a:solidFill>
                  <a:schemeClr val="tx1"/>
                </a:solidFill>
                <a:effectLst/>
                <a:latin typeface="+mn-lt"/>
                <a:ea typeface="+mn-ea"/>
                <a:cs typeface="+mn-cs"/>
              </a:rPr>
              <a:t>4. Policy sẽ xác định khi nào thì các đối tượng backup được ghi vào tape hoặc cloud.</a:t>
            </a:r>
            <a:endParaRPr lang="en-US" sz="1050" kern="1200" smtClean="0">
              <a:solidFill>
                <a:schemeClr val="tx1"/>
              </a:solidFill>
              <a:effectLst/>
              <a:latin typeface="+mn-lt"/>
              <a:ea typeface="+mn-ea"/>
              <a:cs typeface="+mn-cs"/>
            </a:endParaRPr>
          </a:p>
          <a:p>
            <a:pPr lvl="0"/>
            <a:r>
              <a:rPr lang="en-US" sz="1200" kern="1200" smtClean="0">
                <a:solidFill>
                  <a:schemeClr val="tx1"/>
                </a:solidFill>
                <a:effectLst/>
                <a:latin typeface="+mn-lt"/>
                <a:ea typeface="+mn-ea"/>
                <a:cs typeface="+mn-cs"/>
              </a:rPr>
              <a:t>5. Chính sách policy sẽ xác định đối tượng backup có được lưu trữ sang nơi khác hay không. Recovery Appliance không kiểm soát việc này.</a:t>
            </a:r>
            <a:endParaRPr lang="en-US" sz="1050" kern="1200" smtClean="0">
              <a:solidFill>
                <a:schemeClr val="tx1"/>
              </a:solidFill>
              <a:effectLst/>
              <a:latin typeface="+mn-lt"/>
              <a:ea typeface="+mn-ea"/>
              <a:cs typeface="+mn-cs"/>
            </a:endParaRPr>
          </a:p>
          <a:p>
            <a:pPr algn="just"/>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15</a:t>
            </a:fld>
            <a:endParaRPr lang="en-US"/>
          </a:p>
        </p:txBody>
      </p:sp>
    </p:spTree>
    <p:extLst>
      <p:ext uri="{BB962C8B-B14F-4D97-AF65-F5344CB8AC3E}">
        <p14:creationId xmlns:p14="http://schemas.microsoft.com/office/powerpoint/2010/main" val="3567150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1" kern="1200" smtClean="0">
                <a:solidFill>
                  <a:schemeClr val="tx1"/>
                </a:solidFill>
                <a:effectLst/>
                <a:latin typeface="+mn-lt"/>
                <a:ea typeface="+mn-ea"/>
                <a:cs typeface="+mn-cs"/>
              </a:rPr>
              <a:t>Incremental-Forever Backup Architecture: </a:t>
            </a:r>
          </a:p>
          <a:p>
            <a:pPr marL="171450" indent="-171450">
              <a:buFontTx/>
              <a:buChar char="-"/>
            </a:pPr>
            <a:r>
              <a:rPr lang="en-US" sz="1200" kern="1200" smtClean="0">
                <a:solidFill>
                  <a:schemeClr val="tx1"/>
                </a:solidFill>
                <a:effectLst/>
                <a:latin typeface="+mn-lt"/>
                <a:ea typeface="+mn-ea"/>
                <a:cs typeface="+mn-cs"/>
              </a:rPr>
              <a:t>Mục tiêu thiết kế thứ hai của Recovery Appliance là giảm quá trình xử lý liên quan đến backup trên hệ thống database production đến mức tối thiểu – chỉ truyền dữ liệu đã thay đổi.</a:t>
            </a:r>
          </a:p>
          <a:p>
            <a:pPr marL="171450" indent="-171450">
              <a:buFontTx/>
              <a:buChar char="-"/>
            </a:pPr>
            <a:r>
              <a:rPr lang="en-US" sz="1200" kern="1200" smtClean="0">
                <a:solidFill>
                  <a:schemeClr val="tx1"/>
                </a:solidFill>
                <a:effectLst/>
                <a:latin typeface="+mn-lt"/>
                <a:ea typeface="+mn-ea"/>
                <a:cs typeface="+mn-cs"/>
              </a:rPr>
              <a:t>Recovery Appliance triển khai kiến ​​trúc incremental-forever backup để giảm thiểu tác động lên hệ thống production. Kiến trúc này dựa trên hai công nghệ: Delta Push và Delta Store</a:t>
            </a:r>
          </a:p>
          <a:p>
            <a:endParaRPr lang="en-US" sz="1200" b="1" kern="1200" smtClean="0">
              <a:solidFill>
                <a:schemeClr val="tx1"/>
              </a:solidFill>
              <a:effectLst/>
              <a:latin typeface="+mn-lt"/>
              <a:ea typeface="+mn-ea"/>
              <a:cs typeface="+mn-cs"/>
            </a:endParaRPr>
          </a:p>
          <a:p>
            <a:r>
              <a:rPr lang="en-US" sz="1200" b="1" kern="1200" smtClean="0">
                <a:solidFill>
                  <a:schemeClr val="tx1"/>
                </a:solidFill>
                <a:effectLst/>
                <a:latin typeface="+mn-lt"/>
                <a:ea typeface="+mn-ea"/>
                <a:cs typeface="+mn-cs"/>
              </a:rPr>
              <a:t>Delta Push </a:t>
            </a:r>
          </a:p>
          <a:p>
            <a:pPr marL="171450" indent="-171450">
              <a:buFontTx/>
              <a:buChar char="-"/>
            </a:pPr>
            <a:r>
              <a:rPr lang="en-US" sz="1200" kern="1200" smtClean="0">
                <a:solidFill>
                  <a:schemeClr val="tx1"/>
                </a:solidFill>
                <a:effectLst/>
                <a:latin typeface="+mn-lt"/>
                <a:ea typeface="+mn-ea"/>
                <a:cs typeface="+mn-cs"/>
              </a:rPr>
              <a:t>Database được bảo vệ chỉ gửi các bản incremental backups chứa các thay đổi duy nhất cho Recovery Appliance. Không cần phải backup full định kỳ. Delta Push còn được gọi là “chiến</a:t>
            </a:r>
            <a:r>
              <a:rPr lang="en-US" sz="1200" kern="1200" baseline="0" smtClean="0">
                <a:solidFill>
                  <a:schemeClr val="tx1"/>
                </a:solidFill>
                <a:effectLst/>
                <a:latin typeface="+mn-lt"/>
                <a:ea typeface="+mn-ea"/>
                <a:cs typeface="+mn-cs"/>
              </a:rPr>
              <a:t> lược</a:t>
            </a:r>
            <a:r>
              <a:rPr lang="en-US" sz="1200" kern="1200" smtClean="0">
                <a:solidFill>
                  <a:schemeClr val="tx1"/>
                </a:solidFill>
                <a:effectLst/>
                <a:latin typeface="+mn-lt"/>
                <a:ea typeface="+mn-ea"/>
                <a:cs typeface="+mn-cs"/>
              </a:rPr>
              <a:t> incremental forever backup“- Chỉ</a:t>
            </a:r>
            <a:r>
              <a:rPr lang="en-US" sz="1200" kern="1200" baseline="0" smtClean="0">
                <a:solidFill>
                  <a:schemeClr val="tx1"/>
                </a:solidFill>
                <a:effectLst/>
                <a:latin typeface="+mn-lt"/>
                <a:ea typeface="+mn-ea"/>
                <a:cs typeface="+mn-cs"/>
              </a:rPr>
              <a:t> có duy nhất 1 bản backup full level 0 tới RA</a:t>
            </a:r>
            <a:r>
              <a:rPr lang="en-US" sz="1200" kern="1200" smtClean="0">
                <a:solidFill>
                  <a:schemeClr val="tx1"/>
                </a:solidFill>
                <a:effectLst/>
                <a:latin typeface="+mn-lt"/>
                <a:ea typeface="+mn-ea"/>
                <a:cs typeface="+mn-cs"/>
              </a:rPr>
              <a:t>. </a:t>
            </a:r>
          </a:p>
          <a:p>
            <a:pPr marL="171450" indent="-171450">
              <a:buFontTx/>
              <a:buChar char="-"/>
            </a:pPr>
            <a:r>
              <a:rPr lang="en-US" sz="1200" kern="1200" smtClean="0">
                <a:solidFill>
                  <a:schemeClr val="tx1"/>
                </a:solidFill>
                <a:effectLst/>
                <a:latin typeface="+mn-lt"/>
                <a:ea typeface="+mn-ea"/>
                <a:cs typeface="+mn-cs"/>
              </a:rPr>
              <a:t>Về mặt hiệu quả, Delta Push là một hình thức chống trùng lặp phía database nguồn được tối ưu hóa cao.</a:t>
            </a:r>
          </a:p>
          <a:p>
            <a:pPr marL="171450" indent="-171450">
              <a:buFontTx/>
              <a:buChar char="-"/>
            </a:pPr>
            <a:r>
              <a:rPr lang="en-US" sz="1200" kern="1200" smtClean="0">
                <a:solidFill>
                  <a:schemeClr val="tx1"/>
                </a:solidFill>
                <a:effectLst/>
                <a:latin typeface="+mn-lt"/>
                <a:ea typeface="+mn-ea"/>
                <a:cs typeface="+mn-cs"/>
              </a:rPr>
              <a:t>Các block đã thay đổi trên database production được xác định bằng cách sử dụng tính năng RMAN block change tracking giúp loại bỏ đọc dữ liệu không thay đổi. Sự tích hợp đặc biệt giữa các database được bảo vệ và Recovery Appliance giúp loại bỏ các block tablespace không được sử dụng khỏi luồng backup, giảm lưu lượng mạng và tiết kiệm không gian lưu trữ.</a:t>
            </a:r>
          </a:p>
          <a:p>
            <a:pPr marL="171450" indent="-171450">
              <a:buFontTx/>
              <a:buChar char="-"/>
            </a:pPr>
            <a:r>
              <a:rPr lang="en-US" smtClean="0"/>
              <a:t>In normal operation, the Recovery Appliance automatically performs the following steps for each incremental level 1 backup: </a:t>
            </a:r>
          </a:p>
          <a:p>
            <a:pPr marL="0" indent="0">
              <a:buFontTx/>
              <a:buNone/>
            </a:pPr>
            <a:r>
              <a:rPr lang="en-US" smtClean="0"/>
              <a:t>	1. Receives a scheduled incremental level 1 backup from each protected database </a:t>
            </a:r>
          </a:p>
          <a:p>
            <a:pPr marL="0" indent="0">
              <a:buFontTx/>
              <a:buNone/>
            </a:pPr>
            <a:r>
              <a:rPr lang="en-US" smtClean="0"/>
              <a:t>	2. Validates the incoming backup to protect against physical block corruptions </a:t>
            </a:r>
          </a:p>
          <a:p>
            <a:pPr marL="0" indent="0">
              <a:buFontTx/>
              <a:buNone/>
            </a:pPr>
            <a:r>
              <a:rPr lang="en-US" smtClean="0"/>
              <a:t>	3. Compresses the backup using specialized block-level algorithms</a:t>
            </a:r>
          </a:p>
          <a:p>
            <a:pPr marL="0" indent="0">
              <a:buFontTx/>
              <a:buNone/>
            </a:pPr>
            <a:r>
              <a:rPr lang="en-US" smtClean="0"/>
              <a:t>	4. Writes the backup to a delta store in a Recovery Appliance storage location</a:t>
            </a:r>
          </a:p>
          <a:p>
            <a:pPr marL="171450" indent="-171450">
              <a:buFontTx/>
              <a:buChar char="-"/>
            </a:pPr>
            <a:r>
              <a:rPr lang="en-US" smtClean="0"/>
              <a:t>The incremental-forever strategy greatly reduces the backup window and overhead because no full backups are ever required after the initial incremental level 0 backup. </a:t>
            </a:r>
          </a:p>
          <a:p>
            <a:pPr marL="171450" indent="-171450">
              <a:buFontTx/>
              <a:buChar char="-"/>
            </a:pPr>
            <a:r>
              <a:rPr lang="en-US" smtClean="0"/>
              <a:t>If the strategy includes real-time redo transport, then backup windows are further reduced because traditional archived log backups are not necessary. </a:t>
            </a:r>
          </a:p>
          <a:p>
            <a:pPr marL="171450" indent="-171450">
              <a:buFontTx/>
              <a:buChar char="-"/>
            </a:pPr>
            <a:r>
              <a:rPr lang="en-US" smtClean="0"/>
              <a:t>Ngoài ra, Recovery Appliance đảm nhiệm gánh nặng xác thực, loại bỏ trùng lặp và nén.</a:t>
            </a:r>
          </a:p>
          <a:p>
            <a:pPr marL="171450" indent="-171450">
              <a:buFontTx/>
              <a:buChar char="-"/>
            </a:pPr>
            <a:endParaRPr lang="en-US" sz="1200"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Delta Store</a:t>
            </a:r>
            <a:r>
              <a:rPr lang="en-US" sz="1200" kern="1200" smtClean="0">
                <a:solidFill>
                  <a:schemeClr val="tx1"/>
                </a:solidFill>
                <a:effectLst/>
                <a:latin typeface="+mn-lt"/>
                <a:ea typeface="+mn-ea"/>
                <a:cs typeface="+mn-cs"/>
              </a:rPr>
              <a:t>: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smtClean="0">
                <a:solidFill>
                  <a:schemeClr val="tx1"/>
                </a:solidFill>
                <a:effectLst/>
                <a:latin typeface="+mn-lt"/>
                <a:ea typeface="+mn-ea"/>
                <a:cs typeface="+mn-cs"/>
              </a:rPr>
              <a:t>Được coi là key của phần mềm Recovery Appliance. Delta Store nhận</a:t>
            </a:r>
            <a:r>
              <a:rPr lang="en-US" sz="1200" kern="1200" baseline="0" smtClean="0">
                <a:solidFill>
                  <a:schemeClr val="tx1"/>
                </a:solidFill>
                <a:effectLst/>
                <a:latin typeface="+mn-lt"/>
                <a:ea typeface="+mn-ea"/>
                <a:cs typeface="+mn-cs"/>
              </a:rPr>
              <a:t> các bản backup,</a:t>
            </a:r>
            <a:r>
              <a:rPr lang="en-US" sz="1200" kern="1200" smtClean="0">
                <a:solidFill>
                  <a:schemeClr val="tx1"/>
                </a:solidFill>
                <a:effectLst/>
                <a:latin typeface="+mn-lt"/>
                <a:ea typeface="+mn-ea"/>
                <a:cs typeface="+mn-cs"/>
              </a:rPr>
              <a:t> xác thực các block dữ liệu đã thay đổi, sau đó nén, lập chỉ mục và lưu trữ chúng.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smtClean="0">
                <a:solidFill>
                  <a:schemeClr val="tx1"/>
                </a:solidFill>
                <a:effectLst/>
                <a:latin typeface="+mn-lt"/>
                <a:ea typeface="+mn-ea"/>
                <a:cs typeface="+mn-cs"/>
              </a:rPr>
              <a:t>Các block đã thay đổi này là nền tảng của </a:t>
            </a:r>
            <a:r>
              <a:rPr lang="en-US" sz="1200" b="1" kern="1200" smtClean="0">
                <a:solidFill>
                  <a:schemeClr val="tx1"/>
                </a:solidFill>
                <a:effectLst/>
                <a:latin typeface="+mn-lt"/>
                <a:ea typeface="+mn-ea"/>
                <a:cs typeface="+mn-cs"/>
              </a:rPr>
              <a:t>Virtual Full Database Backups</a:t>
            </a:r>
            <a:r>
              <a:rPr lang="en-US" sz="1200" kern="1200" smtClean="0">
                <a:solidFill>
                  <a:schemeClr val="tx1"/>
                </a:solidFill>
                <a:effectLst/>
                <a:latin typeface="+mn-lt"/>
                <a:ea typeface="+mn-ea"/>
                <a:cs typeface="+mn-cs"/>
              </a:rPr>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smtClean="0">
                <a:solidFill>
                  <a:schemeClr val="tx1"/>
                </a:solidFill>
                <a:effectLst/>
                <a:latin typeface="+mn-lt"/>
                <a:ea typeface="+mn-ea"/>
                <a:cs typeface="+mn-cs"/>
              </a:rPr>
              <a:t>Khi cần thực hiện restore, Delta Store sẽ tạo lại bản full backup vật lý một cách hiệu quả dựa trên incremental backup gần nhất.</a:t>
            </a:r>
          </a:p>
          <a:p>
            <a:pPr marL="0" indent="0">
              <a:buFontTx/>
              <a:buNone/>
            </a:pPr>
            <a:endParaRPr lang="en-US" smtClean="0"/>
          </a:p>
          <a:p>
            <a:pPr marL="0" indent="0">
              <a:buFontTx/>
              <a:buNone/>
            </a:pPr>
            <a:r>
              <a:rPr lang="en-US" b="1" smtClean="0"/>
              <a:t>Creation of Virtual Full Backups </a:t>
            </a:r>
          </a:p>
          <a:p>
            <a:pPr marL="171450" indent="-171450">
              <a:buFontTx/>
              <a:buChar char="-"/>
            </a:pPr>
            <a:r>
              <a:rPr lang="en-US" smtClean="0"/>
              <a:t>To create a virtual full backup, Recovery Appliance converts an incoming incremental level 1 backup into a virtual representation of an incremental level 0 backup. </a:t>
            </a:r>
          </a:p>
          <a:p>
            <a:pPr marL="171450" indent="-171450">
              <a:buFontTx/>
              <a:buChar char="-"/>
            </a:pPr>
            <a:r>
              <a:rPr lang="en-US" smtClean="0"/>
              <a:t>A virtual full backup appears as an incremental level 0 backup in the recovery catalog. </a:t>
            </a:r>
          </a:p>
          <a:p>
            <a:pPr marL="171450" indent="-171450">
              <a:buFontTx/>
              <a:buChar char="-"/>
            </a:pPr>
            <a:r>
              <a:rPr lang="en-US" smtClean="0"/>
              <a:t>From the user's perspective, a virtual full backup is indistinguishable from a non-virtual full backup. Using virtual backups, Recovery Appliance provides the protection of frequent level 0 backups with only the cost of frequent level 1 backups.</a:t>
            </a:r>
            <a:endParaRPr lang="en-US" sz="1200" kern="1200" smtClean="0">
              <a:solidFill>
                <a:schemeClr val="tx1"/>
              </a:solidFill>
              <a:effectLst/>
              <a:latin typeface="+mn-lt"/>
              <a:ea typeface="+mn-ea"/>
              <a:cs typeface="+mn-cs"/>
            </a:endParaRPr>
          </a:p>
          <a:p>
            <a:pPr marL="0" indent="0">
              <a:buFontTx/>
              <a:buNone/>
            </a:pPr>
            <a:endParaRPr lang="en-US" sz="1200" kern="1200" smtClean="0">
              <a:solidFill>
                <a:schemeClr val="tx1"/>
              </a:solidFill>
              <a:effectLst/>
              <a:latin typeface="+mn-lt"/>
              <a:ea typeface="+mn-ea"/>
              <a:cs typeface="+mn-cs"/>
            </a:endParaRPr>
          </a:p>
          <a:p>
            <a:pPr algn="just"/>
            <a:endParaRPr lang="en-US"/>
          </a:p>
        </p:txBody>
      </p:sp>
      <p:sp>
        <p:nvSpPr>
          <p:cNvPr id="4" name="Slide Number Placeholder 3"/>
          <p:cNvSpPr>
            <a:spLocks noGrp="1"/>
          </p:cNvSpPr>
          <p:nvPr>
            <p:ph type="sldNum" sz="quarter" idx="10"/>
          </p:nvPr>
        </p:nvSpPr>
        <p:spPr/>
        <p:txBody>
          <a:bodyPr/>
          <a:lstStyle/>
          <a:p>
            <a:fld id="{AB583415-5094-438F-8356-A5E68F7C47B1}" type="slidenum">
              <a:rPr lang="en-US" smtClean="0"/>
              <a:pPr/>
              <a:t>16</a:t>
            </a:fld>
            <a:endParaRPr lang="en-US"/>
          </a:p>
        </p:txBody>
      </p:sp>
    </p:spTree>
    <p:extLst>
      <p:ext uri="{BB962C8B-B14F-4D97-AF65-F5344CB8AC3E}">
        <p14:creationId xmlns:p14="http://schemas.microsoft.com/office/powerpoint/2010/main" val="412201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1" smtClean="0"/>
              <a:t>Integration with Oracle high availability technologies</a:t>
            </a:r>
          </a:p>
          <a:p>
            <a:pPr marL="171450" indent="-171450" algn="just">
              <a:buFontTx/>
              <a:buChar char="-"/>
            </a:pPr>
            <a:r>
              <a:rPr lang="en-US" smtClean="0"/>
              <a:t>Recovery Appliance is integrated with Oracle high availability technologies including Recovery Manager (RMAN), Oracle Real Application Clusters (Oracle RAC), Oracle Data Guard, and Oracle Secure Backup. </a:t>
            </a:r>
          </a:p>
          <a:p>
            <a:pPr marL="171450" indent="-171450" algn="just">
              <a:buFontTx/>
              <a:buChar char="-"/>
            </a:pPr>
            <a:r>
              <a:rPr lang="en-US" smtClean="0"/>
              <a:t>You can use RMAN commands, with the exceptions noted in Unsupported RMAN Commands, to back up and recover protected databases. </a:t>
            </a:r>
          </a:p>
          <a:p>
            <a:pPr marL="0" indent="0" algn="just">
              <a:buFontTx/>
              <a:buNone/>
            </a:pPr>
            <a:r>
              <a:rPr lang="en-US" b="1" smtClean="0"/>
              <a:t>Reduced restore and recovery time</a:t>
            </a:r>
          </a:p>
          <a:p>
            <a:pPr marL="171450" indent="-171450" algn="just">
              <a:buFontTx/>
              <a:buChar char="-"/>
            </a:pPr>
            <a:r>
              <a:rPr lang="en-US" smtClean="0"/>
              <a:t>Recovery Appliance sử</a:t>
            </a:r>
            <a:r>
              <a:rPr lang="en-US" baseline="0" smtClean="0"/>
              <a:t> dụng</a:t>
            </a:r>
            <a:r>
              <a:rPr lang="en-US" smtClean="0"/>
              <a:t> virtual full backups that are created on-demand to reduce the restore and recovery time. </a:t>
            </a:r>
          </a:p>
          <a:p>
            <a:pPr marL="171450" indent="-171450" algn="just">
              <a:buFontTx/>
              <a:buChar char="-"/>
            </a:pPr>
            <a:r>
              <a:rPr lang="en-US" smtClean="0"/>
              <a:t>A virtual full backup là</a:t>
            </a:r>
            <a:r>
              <a:rPr lang="en-US" baseline="0" smtClean="0"/>
              <a:t> 1 </a:t>
            </a:r>
            <a:r>
              <a:rPr lang="en-US" smtClean="0"/>
              <a:t>database image hoàn</a:t>
            </a:r>
            <a:r>
              <a:rPr lang="en-US" baseline="0" smtClean="0"/>
              <a:t> chỉnh</a:t>
            </a:r>
            <a:r>
              <a:rPr lang="en-US" smtClean="0"/>
              <a:t> tại một thời điểm cụ thể. </a:t>
            </a:r>
          </a:p>
          <a:p>
            <a:pPr marL="171450" indent="-171450" algn="just">
              <a:buFontTx/>
              <a:buChar char="-"/>
            </a:pPr>
            <a:r>
              <a:rPr lang="en-US" smtClean="0"/>
              <a:t>Recovery Appliance duy trì hiệu quả các</a:t>
            </a:r>
            <a:r>
              <a:rPr lang="en-US" baseline="0" smtClean="0"/>
              <a:t> bản </a:t>
            </a:r>
            <a:r>
              <a:rPr lang="en-US" smtClean="0"/>
              <a:t>virtual full backups bằng cách lập chỉ mục các bản incremental backups từ protected databases.</a:t>
            </a:r>
          </a:p>
          <a:p>
            <a:pPr marL="0" indent="0" algn="just">
              <a:buFontTx/>
              <a:buNone/>
            </a:pPr>
            <a:r>
              <a:rPr lang="en-US" b="1" smtClean="0"/>
              <a:t>Optimizes storage requirements</a:t>
            </a:r>
          </a:p>
          <a:p>
            <a:pPr marL="0" indent="0" algn="just">
              <a:buFontTx/>
              <a:buNone/>
            </a:pPr>
            <a:r>
              <a:rPr lang="en-US" b="0" smtClean="0"/>
              <a:t>- Recovery Appliance sử</a:t>
            </a:r>
            <a:r>
              <a:rPr lang="en-US" b="0" baseline="0" smtClean="0"/>
              <a:t> dụng</a:t>
            </a:r>
            <a:r>
              <a:rPr lang="en-US" b="0" smtClean="0"/>
              <a:t> shared disk backup pool to store backups for multiple protected databases</a:t>
            </a:r>
            <a:r>
              <a:rPr lang="en-US" b="0" baseline="0" smtClean="0"/>
              <a:t> mà không cần phải có storage backup phân phối trên tất cả </a:t>
            </a:r>
            <a:r>
              <a:rPr lang="en-US" b="0" smtClean="0"/>
              <a:t>protected databases</a:t>
            </a:r>
            <a:r>
              <a:rPr lang="en-US" b="0" baseline="0" smtClean="0"/>
              <a:t>.</a:t>
            </a:r>
            <a:endParaRPr lang="en-US" b="0"/>
          </a:p>
        </p:txBody>
      </p:sp>
      <p:sp>
        <p:nvSpPr>
          <p:cNvPr id="4" name="Slide Number Placeholder 3"/>
          <p:cNvSpPr>
            <a:spLocks noGrp="1"/>
          </p:cNvSpPr>
          <p:nvPr>
            <p:ph type="sldNum" sz="quarter" idx="10"/>
          </p:nvPr>
        </p:nvSpPr>
        <p:spPr/>
        <p:txBody>
          <a:bodyPr/>
          <a:lstStyle/>
          <a:p>
            <a:fld id="{AB583415-5094-438F-8356-A5E68F7C47B1}" type="slidenum">
              <a:rPr lang="en-US" smtClean="0"/>
              <a:pPr/>
              <a:t>17</a:t>
            </a:fld>
            <a:endParaRPr lang="en-US"/>
          </a:p>
        </p:txBody>
      </p:sp>
    </p:spTree>
    <p:extLst>
      <p:ext uri="{BB962C8B-B14F-4D97-AF65-F5344CB8AC3E}">
        <p14:creationId xmlns:p14="http://schemas.microsoft.com/office/powerpoint/2010/main" val="4042899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indent="0" algn="just">
              <a:lnSpc>
                <a:spcPct val="170000"/>
              </a:lnSpc>
              <a:buNone/>
            </a:pPr>
            <a:r>
              <a:rPr lang="en-US" smtClean="0">
                <a:latin typeface="Times New Roman" panose="02020603050405020304" pitchFamily="18" charset="0"/>
                <a:cs typeface="Times New Roman" panose="02020603050405020304" pitchFamily="18" charset="0"/>
              </a:rPr>
              <a:t>Các protected database sẽ gửi một bản full backup (level 0 incremental backup) đầu tiên xuống Recovery Appliance. Sau đó luồng backup cơ bản sẽ như sau:</a:t>
            </a:r>
          </a:p>
          <a:p>
            <a:pPr lvl="1" algn="just">
              <a:lnSpc>
                <a:spcPct val="170000"/>
              </a:lnSpc>
              <a:buFont typeface="Wingdings" panose="05000000000000000000" pitchFamily="2" charset="2"/>
              <a:buChar char="Ø"/>
            </a:pPr>
            <a:r>
              <a:rPr lang="en-US" sz="1800" smtClean="0">
                <a:latin typeface="Times New Roman" panose="02020603050405020304" pitchFamily="18" charset="0"/>
                <a:cs typeface="Times New Roman" panose="02020603050405020304" pitchFamily="18" charset="0"/>
              </a:rPr>
              <a:t>Protected database gửi bản backup level 1 incremental đến Recovery Appliance</a:t>
            </a:r>
          </a:p>
          <a:p>
            <a:pPr lvl="1" algn="just">
              <a:lnSpc>
                <a:spcPct val="170000"/>
              </a:lnSpc>
              <a:buFont typeface="Wingdings" panose="05000000000000000000" pitchFamily="2" charset="2"/>
              <a:buChar char="Ø"/>
            </a:pPr>
            <a:r>
              <a:rPr lang="en-US" sz="1800" smtClean="0">
                <a:latin typeface="Times New Roman" panose="02020603050405020304" pitchFamily="18" charset="0"/>
                <a:cs typeface="Times New Roman" panose="02020603050405020304" pitchFamily="18" charset="0"/>
              </a:rPr>
              <a:t>Recovery Appliance nhận và xử lý các bản incremental backup như sau:</a:t>
            </a:r>
          </a:p>
          <a:p>
            <a:pPr lvl="2" algn="just">
              <a:lnSpc>
                <a:spcPct val="170000"/>
              </a:lnSpc>
              <a:buFont typeface="Arial" panose="020B0604020202020204" pitchFamily="34" charset="0"/>
              <a:buChar char="•"/>
            </a:pPr>
            <a:r>
              <a:rPr lang="en-US" sz="1800" smtClean="0">
                <a:latin typeface="Times New Roman" panose="02020603050405020304" pitchFamily="18" charset="0"/>
                <a:cs typeface="Times New Roman" panose="02020603050405020304" pitchFamily="18" charset="0"/>
              </a:rPr>
              <a:t>Quét các bản backup được gửi bởi protected database</a:t>
            </a:r>
          </a:p>
          <a:p>
            <a:pPr lvl="2" algn="just">
              <a:lnSpc>
                <a:spcPct val="170000"/>
              </a:lnSpc>
              <a:buFont typeface="Arial" panose="020B0604020202020204" pitchFamily="34" charset="0"/>
              <a:buChar char="•"/>
            </a:pPr>
            <a:r>
              <a:rPr lang="en-US" sz="1800" smtClean="0">
                <a:latin typeface="Times New Roman" panose="02020603050405020304" pitchFamily="18" charset="0"/>
                <a:cs typeface="Times New Roman" panose="02020603050405020304" pitchFamily="18" charset="0"/>
              </a:rPr>
              <a:t>Chia thành các block nhỏ hơn. Gán các block từ mỗi data file vào một delta pool riêng.</a:t>
            </a:r>
          </a:p>
          <a:p>
            <a:pPr lvl="2" algn="just">
              <a:lnSpc>
                <a:spcPct val="170000"/>
              </a:lnSpc>
              <a:buFont typeface="Arial" panose="020B0604020202020204" pitchFamily="34" charset="0"/>
              <a:buChar char="•"/>
            </a:pPr>
            <a:r>
              <a:rPr lang="en-US" sz="1800" smtClean="0">
                <a:latin typeface="Times New Roman" panose="02020603050405020304" pitchFamily="18" charset="0"/>
                <a:cs typeface="Times New Roman" panose="02020603050405020304" pitchFamily="18" charset="0"/>
              </a:rPr>
              <a:t>Ghi dữ liệu vào storage dựa theo protect policy cho database</a:t>
            </a:r>
          </a:p>
          <a:p>
            <a:pPr lvl="2" algn="just">
              <a:lnSpc>
                <a:spcPct val="170000"/>
              </a:lnSpc>
              <a:buFont typeface="Arial" panose="020B0604020202020204" pitchFamily="34" charset="0"/>
              <a:buChar char="•"/>
            </a:pPr>
            <a:r>
              <a:rPr lang="en-US" sz="1800" smtClean="0">
                <a:latin typeface="Times New Roman" panose="02020603050405020304" pitchFamily="18" charset="0"/>
                <a:cs typeface="Times New Roman" panose="02020603050405020304" pitchFamily="18" charset="0"/>
              </a:rPr>
              <a:t>Xóa bản backup gốc sau khi bản virtual backup đã được tạo</a:t>
            </a:r>
          </a:p>
          <a:p>
            <a:pPr marL="0" indent="0" algn="just">
              <a:lnSpc>
                <a:spcPct val="170000"/>
              </a:lnSpc>
              <a:buNone/>
            </a:pPr>
            <a:r>
              <a:rPr lang="en-US" smtClean="0">
                <a:latin typeface="Times New Roman" panose="02020603050405020304" pitchFamily="18" charset="0"/>
                <a:cs typeface="Times New Roman" panose="02020603050405020304" pitchFamily="18" charset="0"/>
              </a:rPr>
              <a:t>Trong quá trình nhận bản backup, Recovery Appliance cũng lập chỉ mục bản backup, bao gồm việc lưu trữ thông tin về nội dung và vị trí vật lý của từng block dữ liệu trong metadata database.</a:t>
            </a:r>
          </a:p>
          <a:p>
            <a:pPr algn="just"/>
            <a:endParaRPr lang="en-US" smtClean="0"/>
          </a:p>
          <a:p>
            <a:pPr algn="just"/>
            <a:r>
              <a:rPr lang="en-US" smtClean="0"/>
              <a:t>Nếu Recovery Appliance replication được</a:t>
            </a:r>
            <a:r>
              <a:rPr lang="en-US" baseline="0" smtClean="0"/>
              <a:t> </a:t>
            </a:r>
            <a:r>
              <a:rPr lang="en-US" smtClean="0"/>
              <a:t>configured, thì</a:t>
            </a:r>
            <a:r>
              <a:rPr lang="en-US" baseline="0" smtClean="0"/>
              <a:t> sau đó </a:t>
            </a:r>
            <a:r>
              <a:rPr lang="en-US" smtClean="0"/>
              <a:t>Recovery Appliance forwards the backup to a downstream Recovery Appliance.</a:t>
            </a:r>
            <a:endParaRPr lang="en-US" b="0"/>
          </a:p>
        </p:txBody>
      </p:sp>
      <p:sp>
        <p:nvSpPr>
          <p:cNvPr id="4" name="Slide Number Placeholder 3"/>
          <p:cNvSpPr>
            <a:spLocks noGrp="1"/>
          </p:cNvSpPr>
          <p:nvPr>
            <p:ph type="sldNum" sz="quarter" idx="10"/>
          </p:nvPr>
        </p:nvSpPr>
        <p:spPr/>
        <p:txBody>
          <a:bodyPr/>
          <a:lstStyle/>
          <a:p>
            <a:fld id="{AB583415-5094-438F-8356-A5E68F7C47B1}" type="slidenum">
              <a:rPr lang="en-US" smtClean="0"/>
              <a:pPr/>
              <a:t>18</a:t>
            </a:fld>
            <a:endParaRPr lang="en-US"/>
          </a:p>
        </p:txBody>
      </p:sp>
    </p:spTree>
    <p:extLst>
      <p:ext uri="{BB962C8B-B14F-4D97-AF65-F5344CB8AC3E}">
        <p14:creationId xmlns:p14="http://schemas.microsoft.com/office/powerpoint/2010/main" val="1809687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mtClean="0"/>
              <a:t>If Recovery Appliance replication is configured, then the Recovery Appliance forwards the backup to a downstream Recovery Appliance.</a:t>
            </a:r>
            <a:endParaRPr lang="en-US" b="0"/>
          </a:p>
        </p:txBody>
      </p:sp>
      <p:sp>
        <p:nvSpPr>
          <p:cNvPr id="4" name="Slide Number Placeholder 3"/>
          <p:cNvSpPr>
            <a:spLocks noGrp="1"/>
          </p:cNvSpPr>
          <p:nvPr>
            <p:ph type="sldNum" sz="quarter" idx="10"/>
          </p:nvPr>
        </p:nvSpPr>
        <p:spPr/>
        <p:txBody>
          <a:bodyPr/>
          <a:lstStyle/>
          <a:p>
            <a:fld id="{AB583415-5094-438F-8356-A5E68F7C47B1}" type="slidenum">
              <a:rPr lang="en-US" smtClean="0"/>
              <a:pPr/>
              <a:t>19</a:t>
            </a:fld>
            <a:endParaRPr lang="en-US"/>
          </a:p>
        </p:txBody>
      </p:sp>
    </p:spTree>
    <p:extLst>
      <p:ext uri="{BB962C8B-B14F-4D97-AF65-F5344CB8AC3E}">
        <p14:creationId xmlns:p14="http://schemas.microsoft.com/office/powerpoint/2010/main" val="391311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1" kern="1200" smtClean="0">
                <a:solidFill>
                  <a:schemeClr val="tx1"/>
                </a:solidFill>
                <a:effectLst/>
                <a:latin typeface="+mn-lt"/>
                <a:ea typeface="+mn-ea"/>
                <a:cs typeface="+mn-cs"/>
              </a:rPr>
              <a:t>Điều kiện tiên quyết</a:t>
            </a:r>
          </a:p>
          <a:p>
            <a:pPr marL="171450" lvl="0" indent="-171450">
              <a:buFontTx/>
              <a:buChar char="-"/>
            </a:pPr>
            <a:r>
              <a:rPr lang="en-US" sz="1200" kern="1200" smtClean="0">
                <a:solidFill>
                  <a:schemeClr val="tx1"/>
                </a:solidFill>
                <a:effectLst/>
                <a:latin typeface="+mn-lt"/>
                <a:ea typeface="+mn-ea"/>
                <a:cs typeface="+mn-cs"/>
              </a:rPr>
              <a:t>Protected database phải được đăng ký với Recovery Appliance</a:t>
            </a:r>
          </a:p>
          <a:p>
            <a:pPr marL="171450" lvl="0" indent="-171450">
              <a:buFontTx/>
              <a:buChar char="-"/>
            </a:pPr>
            <a:r>
              <a:rPr lang="en-US" sz="1200" kern="1200" smtClean="0">
                <a:solidFill>
                  <a:schemeClr val="tx1"/>
                </a:solidFill>
                <a:effectLst/>
                <a:latin typeface="+mn-lt"/>
                <a:ea typeface="+mn-ea"/>
                <a:cs typeface="+mn-cs"/>
              </a:rPr>
              <a:t>Các bản backup cần thiết để khôi phục Protected database phải được lưu trữ trên Recovery Appliance. Khi thực hiện khôi phục point-in-time, có thể khôi phục tới bất kỳ thời điểm nào.</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B583415-5094-438F-8356-A5E68F7C47B1}" type="slidenum">
              <a:rPr lang="en-US" smtClean="0"/>
              <a:pPr/>
              <a:t>20</a:t>
            </a:fld>
            <a:endParaRPr lang="en-US"/>
          </a:p>
        </p:txBody>
      </p:sp>
    </p:spTree>
    <p:extLst>
      <p:ext uri="{BB962C8B-B14F-4D97-AF65-F5344CB8AC3E}">
        <p14:creationId xmlns:p14="http://schemas.microsoft.com/office/powerpoint/2010/main" val="2150011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1" kern="1200" smtClean="0">
                <a:solidFill>
                  <a:schemeClr val="tx1"/>
                </a:solidFill>
                <a:effectLst/>
                <a:latin typeface="+mn-lt"/>
                <a:ea typeface="+mn-ea"/>
                <a:cs typeface="+mn-cs"/>
              </a:rPr>
              <a:t>Điều kiện tiên quyết</a:t>
            </a:r>
          </a:p>
          <a:p>
            <a:pPr marL="171450" lvl="0" indent="-171450">
              <a:buFontTx/>
              <a:buChar char="-"/>
            </a:pPr>
            <a:r>
              <a:rPr lang="en-US" sz="1200" kern="1200" smtClean="0">
                <a:solidFill>
                  <a:schemeClr val="tx1"/>
                </a:solidFill>
                <a:effectLst/>
                <a:latin typeface="+mn-lt"/>
                <a:ea typeface="+mn-ea"/>
                <a:cs typeface="+mn-cs"/>
              </a:rPr>
              <a:t>Protected database phải được đăng ký với Recovery Appliance</a:t>
            </a:r>
          </a:p>
          <a:p>
            <a:pPr marL="171450" lvl="0" indent="-171450">
              <a:buFontTx/>
              <a:buChar char="-"/>
            </a:pPr>
            <a:r>
              <a:rPr lang="en-US" sz="1200" kern="1200" smtClean="0">
                <a:solidFill>
                  <a:schemeClr val="tx1"/>
                </a:solidFill>
                <a:effectLst/>
                <a:latin typeface="+mn-lt"/>
                <a:ea typeface="+mn-ea"/>
                <a:cs typeface="+mn-cs"/>
              </a:rPr>
              <a:t>Các bản backup cần thiết để khôi phục Protected database phải được lưu trữ trên Recovery Appliance. Khi thực hiện khôi phục point-in-time, có thể khôi phục tới bất kỳ thời điểm nào.</a:t>
            </a:r>
          </a:p>
          <a:p>
            <a:pPr marL="171450" lvl="0" indent="-171450">
              <a:buFontTx/>
              <a:buChar char="-"/>
            </a:pPr>
            <a:r>
              <a:rPr lang="en-US" sz="1200" kern="1200" smtClean="0">
                <a:solidFill>
                  <a:schemeClr val="tx1"/>
                </a:solidFill>
                <a:effectLst/>
                <a:latin typeface="+mn-lt"/>
                <a:ea typeface="+mn-ea"/>
                <a:cs typeface="+mn-cs"/>
              </a:rPr>
              <a:t>Oracle Vault chứa thông tin xác thực được sử dụng để xác thực Recovery Appliance phải được cấu hình trên protected database.</a:t>
            </a:r>
          </a:p>
          <a:p>
            <a:pPr marL="171450" lvl="0" indent="-171450">
              <a:buFontTx/>
              <a:buChar char="-"/>
            </a:pPr>
            <a:r>
              <a:rPr lang="en-US" sz="1200" kern="1200" smtClean="0">
                <a:solidFill>
                  <a:schemeClr val="tx1"/>
                </a:solidFill>
                <a:effectLst/>
                <a:latin typeface="+mn-lt"/>
                <a:ea typeface="+mn-ea"/>
                <a:cs typeface="+mn-cs"/>
              </a:rPr>
              <a:t>RMAN SBT channel phải được cấu hình tương ứng với mô-đun backup Recovery Appliance.</a:t>
            </a:r>
          </a:p>
          <a:p>
            <a:pPr marL="0" lvl="0" indent="0">
              <a:buFontTx/>
              <a:buNone/>
            </a:pPr>
            <a:endParaRPr lang="en-US" sz="1200" kern="1200" smtClean="0">
              <a:solidFill>
                <a:schemeClr val="tx1"/>
              </a:solidFill>
              <a:effectLst/>
              <a:latin typeface="+mn-lt"/>
              <a:ea typeface="+mn-ea"/>
              <a:cs typeface="+mn-cs"/>
            </a:endParaRPr>
          </a:p>
          <a:p>
            <a:pPr marL="0" lvl="0" indent="0">
              <a:buFontTx/>
              <a:buNone/>
            </a:pPr>
            <a:r>
              <a:rPr lang="en-US" smtClean="0"/>
              <a:t>The following command, run from the CDB, connects to the root as the common user c##bkuser user. </a:t>
            </a:r>
          </a:p>
          <a:p>
            <a:pPr marL="0" lvl="0" indent="0">
              <a:buFontTx/>
              <a:buNone/>
            </a:pPr>
            <a:r>
              <a:rPr lang="en-US" smtClean="0"/>
              <a:t>my_cdb is the net service name of the CDB. </a:t>
            </a:r>
          </a:p>
          <a:p>
            <a:pPr marL="0" lvl="0" indent="0">
              <a:buFontTx/>
              <a:buNone/>
            </a:pPr>
            <a:r>
              <a:rPr lang="en-US" smtClean="0"/>
              <a:t>ra_rman_user is the Recovery Appliance user that the protected database uses to authenticate with the Recovery Appliance.</a:t>
            </a:r>
          </a:p>
          <a:p>
            <a:pPr marL="0" lvl="0" indent="0">
              <a:buFontTx/>
              <a:buNone/>
            </a:pPr>
            <a:r>
              <a:rPr lang="en-US" smtClean="0"/>
              <a:t>ra1 is the net service name of the target Recovery Appliance. </a:t>
            </a:r>
          </a:p>
          <a:p>
            <a:pPr marL="0" lvl="0" indent="0">
              <a:buFontTx/>
              <a:buNone/>
            </a:pPr>
            <a:r>
              <a:rPr lang="en-US" smtClean="0"/>
              <a:t>Enter the passwords for both users when prompted.</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B583415-5094-438F-8356-A5E68F7C47B1}" type="slidenum">
              <a:rPr lang="en-US" smtClean="0"/>
              <a:pPr/>
              <a:t>21</a:t>
            </a:fld>
            <a:endParaRPr lang="en-US"/>
          </a:p>
        </p:txBody>
      </p:sp>
    </p:spTree>
    <p:extLst>
      <p:ext uri="{BB962C8B-B14F-4D97-AF65-F5344CB8AC3E}">
        <p14:creationId xmlns:p14="http://schemas.microsoft.com/office/powerpoint/2010/main" val="2994883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1" kern="1200" smtClean="0">
                <a:solidFill>
                  <a:schemeClr val="tx1"/>
                </a:solidFill>
                <a:effectLst/>
                <a:latin typeface="+mn-lt"/>
                <a:ea typeface="+mn-ea"/>
                <a:cs typeface="+mn-cs"/>
              </a:rPr>
              <a:t>Điều kiện tiên quyết</a:t>
            </a:r>
          </a:p>
          <a:p>
            <a:pPr marL="171450" lvl="0" indent="-171450">
              <a:buFontTx/>
              <a:buChar char="-"/>
            </a:pPr>
            <a:r>
              <a:rPr lang="en-US" sz="1200" kern="1200" smtClean="0">
                <a:solidFill>
                  <a:schemeClr val="tx1"/>
                </a:solidFill>
                <a:effectLst/>
                <a:latin typeface="+mn-lt"/>
                <a:ea typeface="+mn-ea"/>
                <a:cs typeface="+mn-cs"/>
              </a:rPr>
              <a:t>Protected database phải được đăng ký với Recovery Appliance</a:t>
            </a:r>
          </a:p>
          <a:p>
            <a:pPr marL="171450" lvl="0" indent="-171450">
              <a:buFontTx/>
              <a:buChar char="-"/>
            </a:pPr>
            <a:r>
              <a:rPr lang="en-US" sz="1200" kern="1200" smtClean="0">
                <a:solidFill>
                  <a:schemeClr val="tx1"/>
                </a:solidFill>
                <a:effectLst/>
                <a:latin typeface="+mn-lt"/>
                <a:ea typeface="+mn-ea"/>
                <a:cs typeface="+mn-cs"/>
              </a:rPr>
              <a:t>Các bản backup cần thiết để khôi phục Protected database phải được lưu trữ trên Recovery Appliance. Khi thực hiện khôi phục point-in-time, có thể khôi phục tới bất kỳ thời điểm nào.</a:t>
            </a:r>
          </a:p>
          <a:p>
            <a:pPr marL="171450" lvl="0" indent="-171450">
              <a:buFontTx/>
              <a:buChar char="-"/>
            </a:pPr>
            <a:r>
              <a:rPr lang="en-US" sz="1200" kern="1200" smtClean="0">
                <a:solidFill>
                  <a:schemeClr val="tx1"/>
                </a:solidFill>
                <a:effectLst/>
                <a:latin typeface="+mn-lt"/>
                <a:ea typeface="+mn-ea"/>
                <a:cs typeface="+mn-cs"/>
              </a:rPr>
              <a:t>Oracle Vault chứa thông tin xác thực được sử dụng để xác thực Recovery Appliance phải được cấu hình trên protected database.</a:t>
            </a:r>
          </a:p>
          <a:p>
            <a:pPr marL="171450" lvl="0" indent="-171450">
              <a:buFontTx/>
              <a:buChar char="-"/>
            </a:pPr>
            <a:r>
              <a:rPr lang="en-US" sz="1200" kern="1200" smtClean="0">
                <a:solidFill>
                  <a:schemeClr val="tx1"/>
                </a:solidFill>
                <a:effectLst/>
                <a:latin typeface="+mn-lt"/>
                <a:ea typeface="+mn-ea"/>
                <a:cs typeface="+mn-cs"/>
              </a:rPr>
              <a:t>RMAN SBT channel phải được cấu hình tương ứng với mô-đun backup Recovery Appliance.</a:t>
            </a:r>
          </a:p>
        </p:txBody>
      </p:sp>
      <p:sp>
        <p:nvSpPr>
          <p:cNvPr id="4" name="Slide Number Placeholder 3"/>
          <p:cNvSpPr>
            <a:spLocks noGrp="1"/>
          </p:cNvSpPr>
          <p:nvPr>
            <p:ph type="sldNum" sz="quarter" idx="10"/>
          </p:nvPr>
        </p:nvSpPr>
        <p:spPr/>
        <p:txBody>
          <a:bodyPr/>
          <a:lstStyle/>
          <a:p>
            <a:fld id="{AB583415-5094-438F-8356-A5E68F7C47B1}" type="slidenum">
              <a:rPr lang="en-US" smtClean="0"/>
              <a:pPr/>
              <a:t>22</a:t>
            </a:fld>
            <a:endParaRPr lang="en-US"/>
          </a:p>
        </p:txBody>
      </p:sp>
    </p:spTree>
    <p:extLst>
      <p:ext uri="{BB962C8B-B14F-4D97-AF65-F5344CB8AC3E}">
        <p14:creationId xmlns:p14="http://schemas.microsoft.com/office/powerpoint/2010/main" val="37867341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mtClean="0"/>
              <a:t>The FIRST_CHANGE# is the first SCN number in the archive redo log. </a:t>
            </a:r>
          </a:p>
          <a:p>
            <a:pPr algn="just"/>
            <a:r>
              <a:rPr lang="en-US" smtClean="0"/>
              <a:t>The NEXT_CHANGE# is the first SCN of the next archive redo log in this thread.</a:t>
            </a:r>
            <a:endParaRPr lang="en-US" sz="1200" kern="120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B583415-5094-438F-8356-A5E68F7C47B1}" type="slidenum">
              <a:rPr lang="en-US" smtClean="0"/>
              <a:pPr/>
              <a:t>23</a:t>
            </a:fld>
            <a:endParaRPr lang="en-US"/>
          </a:p>
        </p:txBody>
      </p:sp>
    </p:spTree>
    <p:extLst>
      <p:ext uri="{BB962C8B-B14F-4D97-AF65-F5344CB8AC3E}">
        <p14:creationId xmlns:p14="http://schemas.microsoft.com/office/powerpoint/2010/main" val="1389492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smtClean="0"/>
          </a:p>
        </p:txBody>
      </p:sp>
      <p:sp>
        <p:nvSpPr>
          <p:cNvPr id="4" name="Slide Number Placeholder 3"/>
          <p:cNvSpPr>
            <a:spLocks noGrp="1"/>
          </p:cNvSpPr>
          <p:nvPr>
            <p:ph type="sldNum" sz="quarter" idx="10"/>
          </p:nvPr>
        </p:nvSpPr>
        <p:spPr/>
        <p:txBody>
          <a:bodyPr/>
          <a:lstStyle/>
          <a:p>
            <a:fld id="{AB583415-5094-438F-8356-A5E68F7C47B1}" type="slidenum">
              <a:rPr lang="en-US" smtClean="0"/>
              <a:pPr/>
              <a:t>24</a:t>
            </a:fld>
            <a:endParaRPr lang="en-US"/>
          </a:p>
        </p:txBody>
      </p:sp>
    </p:spTree>
    <p:extLst>
      <p:ext uri="{BB962C8B-B14F-4D97-AF65-F5344CB8AC3E}">
        <p14:creationId xmlns:p14="http://schemas.microsoft.com/office/powerpoint/2010/main" val="24201463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1" kern="1200" smtClean="0">
                <a:solidFill>
                  <a:schemeClr val="tx1"/>
                </a:solidFill>
                <a:effectLst/>
                <a:latin typeface="+mn-lt"/>
                <a:ea typeface="+mn-ea"/>
                <a:cs typeface="+mn-cs"/>
              </a:rPr>
              <a:t>Điều kiện tiên quyết</a:t>
            </a:r>
          </a:p>
          <a:p>
            <a:pPr marL="171450" lvl="0" indent="-171450">
              <a:buFontTx/>
              <a:buChar char="-"/>
            </a:pPr>
            <a:r>
              <a:rPr lang="en-US" sz="1200" kern="1200" smtClean="0">
                <a:solidFill>
                  <a:schemeClr val="tx1"/>
                </a:solidFill>
                <a:effectLst/>
                <a:latin typeface="+mn-lt"/>
                <a:ea typeface="+mn-ea"/>
                <a:cs typeface="+mn-cs"/>
              </a:rPr>
              <a:t>Protected database phải được đăng ký với Recovery Appliance</a:t>
            </a:r>
          </a:p>
          <a:p>
            <a:pPr marL="171450" lvl="0" indent="-171450">
              <a:buFontTx/>
              <a:buChar char="-"/>
            </a:pPr>
            <a:r>
              <a:rPr lang="en-US" sz="1200" kern="1200" smtClean="0">
                <a:solidFill>
                  <a:schemeClr val="tx1"/>
                </a:solidFill>
                <a:effectLst/>
                <a:latin typeface="+mn-lt"/>
                <a:ea typeface="+mn-ea"/>
                <a:cs typeface="+mn-cs"/>
              </a:rPr>
              <a:t>Các bản backup cần thiết để khôi phục Protected database phải được lưu trữ trên Recovery Appliance. Khi thực hiện khôi phục point-in-time, có thể khôi phục tới bất kỳ thời điểm nào.</a:t>
            </a:r>
          </a:p>
          <a:p>
            <a:pPr marL="171450" lvl="0" indent="-171450">
              <a:buFontTx/>
              <a:buChar char="-"/>
            </a:pPr>
            <a:r>
              <a:rPr lang="en-US" sz="1200" kern="1200" smtClean="0">
                <a:solidFill>
                  <a:schemeClr val="tx1"/>
                </a:solidFill>
                <a:effectLst/>
                <a:latin typeface="+mn-lt"/>
                <a:ea typeface="+mn-ea"/>
                <a:cs typeface="+mn-cs"/>
              </a:rPr>
              <a:t>Oracle Vault chứa thông tin xác thực được sử dụng để xác thực Recovery Appliance phải được cấu hình trên protected database.</a:t>
            </a:r>
          </a:p>
          <a:p>
            <a:pPr marL="171450" lvl="0" indent="-171450">
              <a:buFontTx/>
              <a:buChar char="-"/>
            </a:pPr>
            <a:r>
              <a:rPr lang="en-US" sz="1200" kern="1200" smtClean="0">
                <a:solidFill>
                  <a:schemeClr val="tx1"/>
                </a:solidFill>
                <a:effectLst/>
                <a:latin typeface="+mn-lt"/>
                <a:ea typeface="+mn-ea"/>
                <a:cs typeface="+mn-cs"/>
              </a:rPr>
              <a:t>RMAN SBT channel phải được cấu hình tương ứng với mô-đun backup Recovery Appliance.</a:t>
            </a:r>
          </a:p>
        </p:txBody>
      </p:sp>
      <p:sp>
        <p:nvSpPr>
          <p:cNvPr id="4" name="Slide Number Placeholder 3"/>
          <p:cNvSpPr>
            <a:spLocks noGrp="1"/>
          </p:cNvSpPr>
          <p:nvPr>
            <p:ph type="sldNum" sz="quarter" idx="10"/>
          </p:nvPr>
        </p:nvSpPr>
        <p:spPr/>
        <p:txBody>
          <a:bodyPr/>
          <a:lstStyle/>
          <a:p>
            <a:fld id="{AB583415-5094-438F-8356-A5E68F7C47B1}" type="slidenum">
              <a:rPr lang="en-US" smtClean="0"/>
              <a:pPr/>
              <a:t>25</a:t>
            </a:fld>
            <a:endParaRPr lang="en-US"/>
          </a:p>
        </p:txBody>
      </p:sp>
    </p:spTree>
    <p:extLst>
      <p:ext uri="{BB962C8B-B14F-4D97-AF65-F5344CB8AC3E}">
        <p14:creationId xmlns:p14="http://schemas.microsoft.com/office/powerpoint/2010/main" val="827145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35673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1454169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32408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2520368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410902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1246904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1962025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3280362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244216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1265278800"/>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374407188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4070009632"/>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0729851"/>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3545874112"/>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983210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5BF5B0-096F-4568-8CFB-193A3A582989}" type="slidenum">
              <a:rPr lang="en-US" smtClean="0"/>
              <a:pPr/>
              <a:t>‹#›</a:t>
            </a:fld>
            <a:endParaRPr lang="en-US"/>
          </a:p>
        </p:txBody>
      </p:sp>
    </p:spTree>
    <p:extLst>
      <p:ext uri="{BB962C8B-B14F-4D97-AF65-F5344CB8AC3E}">
        <p14:creationId xmlns:p14="http://schemas.microsoft.com/office/powerpoint/2010/main" val="4026609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B5BF5B0-096F-4568-8CFB-193A3A582989}" type="slidenum">
              <a:rPr lang="en-US" smtClean="0"/>
              <a:pPr/>
              <a:t>‹#›</a:t>
            </a:fld>
            <a:endParaRPr lang="en-US"/>
          </a:p>
        </p:txBody>
      </p:sp>
    </p:spTree>
    <p:extLst>
      <p:ext uri="{BB962C8B-B14F-4D97-AF65-F5344CB8AC3E}">
        <p14:creationId xmlns:p14="http://schemas.microsoft.com/office/powerpoint/2010/main" val="77037496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3048000"/>
            <a:ext cx="9395851" cy="1752600"/>
          </a:xfrm>
        </p:spPr>
        <p:txBody>
          <a:bodyPr>
            <a:noAutofit/>
          </a:bodyPr>
          <a:lstStyle/>
          <a:p>
            <a:pPr algn="ctr"/>
            <a:r>
              <a:rPr lang="en-US" sz="3200" b="1" smtClean="0">
                <a:solidFill>
                  <a:srgbClr val="FFC000"/>
                </a:solidFill>
                <a:latin typeface="Times New Roman" panose="02020603050405020304" pitchFamily="18" charset="0"/>
                <a:cs typeface="Times New Roman" panose="02020603050405020304" pitchFamily="18" charset="0"/>
              </a:rPr>
              <a:t>ĐÀO TẠO</a:t>
            </a:r>
            <a:r>
              <a:rPr lang="vi-VN" sz="3200" b="1" smtClean="0">
                <a:solidFill>
                  <a:srgbClr val="FFC000"/>
                </a:solidFill>
                <a:latin typeface="Times New Roman" panose="02020603050405020304" pitchFamily="18" charset="0"/>
                <a:cs typeface="Times New Roman" panose="02020603050405020304" pitchFamily="18" charset="0"/>
              </a:rPr>
              <a:t> </a:t>
            </a:r>
            <a:r>
              <a:rPr lang="vi-VN" sz="3200" b="1">
                <a:solidFill>
                  <a:srgbClr val="FFC000"/>
                </a:solidFill>
                <a:latin typeface="Times New Roman" panose="02020603050405020304" pitchFamily="18" charset="0"/>
                <a:cs typeface="Times New Roman" panose="02020603050405020304" pitchFamily="18" charset="0"/>
              </a:rPr>
              <a:t>VẬN </a:t>
            </a:r>
            <a:r>
              <a:rPr lang="vi-VN" sz="3200" b="1" smtClean="0">
                <a:solidFill>
                  <a:srgbClr val="FFC000"/>
                </a:solidFill>
                <a:latin typeface="Times New Roman" panose="02020603050405020304" pitchFamily="18" charset="0"/>
                <a:cs typeface="Times New Roman" panose="02020603050405020304" pitchFamily="18" charset="0"/>
              </a:rPr>
              <a:t>HÀNH</a:t>
            </a:r>
            <a:r>
              <a:rPr lang="en-US" sz="3200" b="1" smtClean="0">
                <a:solidFill>
                  <a:srgbClr val="FFC000"/>
                </a:solidFill>
                <a:latin typeface="Times New Roman" panose="02020603050405020304" pitchFamily="18" charset="0"/>
                <a:cs typeface="Times New Roman" panose="02020603050405020304" pitchFamily="18" charset="0"/>
              </a:rPr>
              <a:t> </a:t>
            </a:r>
            <a:r>
              <a:rPr lang="vi-VN" sz="3200" b="1" smtClean="0">
                <a:solidFill>
                  <a:srgbClr val="FFC000"/>
                </a:solidFill>
                <a:latin typeface="Times New Roman" panose="02020603050405020304" pitchFamily="18" charset="0"/>
                <a:cs typeface="Times New Roman" panose="02020603050405020304" pitchFamily="18" charset="0"/>
              </a:rPr>
              <a:t>HỆ </a:t>
            </a:r>
            <a:r>
              <a:rPr lang="vi-VN" sz="3200" b="1">
                <a:solidFill>
                  <a:srgbClr val="FFC000"/>
                </a:solidFill>
                <a:latin typeface="Times New Roman" panose="02020603050405020304" pitchFamily="18" charset="0"/>
                <a:cs typeface="Times New Roman" panose="02020603050405020304" pitchFamily="18" charset="0"/>
              </a:rPr>
              <a:t>THỐNG </a:t>
            </a:r>
            <a:endParaRPr lang="en-US" sz="3200" b="1" smtClean="0">
              <a:solidFill>
                <a:srgbClr val="FFC000"/>
              </a:solidFill>
              <a:latin typeface="Times New Roman" panose="02020603050405020304" pitchFamily="18" charset="0"/>
              <a:cs typeface="Times New Roman" panose="02020603050405020304" pitchFamily="18" charset="0"/>
            </a:endParaRPr>
          </a:p>
          <a:p>
            <a:pPr algn="ctr"/>
            <a:r>
              <a:rPr lang="en-US" sz="3200" b="1" smtClean="0">
                <a:solidFill>
                  <a:srgbClr val="FFC000"/>
                </a:solidFill>
                <a:latin typeface="Times New Roman" panose="02020603050405020304" pitchFamily="18" charset="0"/>
                <a:cs typeface="Times New Roman" panose="02020603050405020304" pitchFamily="18" charset="0"/>
              </a:rPr>
              <a:t>Zero </a:t>
            </a:r>
            <a:r>
              <a:rPr lang="en-US" sz="3200" b="1">
                <a:solidFill>
                  <a:srgbClr val="FFC000"/>
                </a:solidFill>
                <a:latin typeface="Times New Roman" panose="02020603050405020304" pitchFamily="18" charset="0"/>
                <a:cs typeface="Times New Roman" panose="02020603050405020304" pitchFamily="18" charset="0"/>
              </a:rPr>
              <a:t>Data Loss Recovery Appliance RA23 </a:t>
            </a:r>
            <a:endParaRPr lang="en-US" sz="3200" b="1" smtClean="0">
              <a:solidFill>
                <a:srgbClr val="FFC000"/>
              </a:solidFill>
              <a:latin typeface="Times New Roman" panose="02020603050405020304" pitchFamily="18" charset="0"/>
              <a:cs typeface="Times New Roman" panose="02020603050405020304" pitchFamily="18" charset="0"/>
            </a:endParaRPr>
          </a:p>
          <a:p>
            <a:pPr algn="ctr"/>
            <a:r>
              <a:rPr lang="en-US" sz="3200" b="1" smtClean="0">
                <a:solidFill>
                  <a:srgbClr val="FFC000"/>
                </a:solidFill>
                <a:latin typeface="Times New Roman" panose="02020603050405020304" pitchFamily="18" charset="0"/>
                <a:cs typeface="Times New Roman" panose="02020603050405020304" pitchFamily="18" charset="0"/>
              </a:rPr>
              <a:t>(</a:t>
            </a:r>
            <a:r>
              <a:rPr lang="en-US" sz="3200" b="1">
                <a:solidFill>
                  <a:srgbClr val="FFC000"/>
                </a:solidFill>
                <a:latin typeface="Times New Roman" panose="02020603050405020304" pitchFamily="18" charset="0"/>
                <a:cs typeface="Times New Roman" panose="02020603050405020304" pitchFamily="18" charset="0"/>
              </a:rPr>
              <a:t>ZDLRA)</a:t>
            </a:r>
            <a:endParaRPr lang="vi-VN" sz="3200" b="1">
              <a:solidFill>
                <a:srgbClr val="FFC000"/>
              </a:solidFill>
              <a:latin typeface="Times New Roman" panose="02020603050405020304" pitchFamily="18" charset="0"/>
              <a:cs typeface="Times New Roman" panose="02020603050405020304" pitchFamily="18" charset="0"/>
            </a:endParaRPr>
          </a:p>
        </p:txBody>
      </p:sp>
      <p:sp>
        <p:nvSpPr>
          <p:cNvPr id="4" name="Subtitle 2"/>
          <p:cNvSpPr txBox="1">
            <a:spLocks/>
          </p:cNvSpPr>
          <p:nvPr/>
        </p:nvSpPr>
        <p:spPr>
          <a:xfrm>
            <a:off x="2023600" y="381000"/>
            <a:ext cx="7120399" cy="2133600"/>
          </a:xfrm>
          <a:prstGeom prst="rect">
            <a:avLst/>
          </a:prstGeom>
        </p:spPr>
        <p:txBody>
          <a:bodyPr vert="horz" lIns="68580" tIns="34290" rIns="68580" bIns="3429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spcBef>
                <a:spcPts val="0"/>
              </a:spcBef>
            </a:pPr>
            <a:r>
              <a:rPr lang="en-US" sz="2400" b="1">
                <a:latin typeface="Times New Roman" panose="02020603050405020304" pitchFamily="18" charset="0"/>
                <a:cs typeface="Times New Roman" panose="02020603050405020304" pitchFamily="18" charset="0"/>
              </a:rPr>
              <a:t>CÔNG TY TNHH CÔNG NGHỆ THÔNG TIN VÀ</a:t>
            </a:r>
            <a:endParaRPr lang="en-US" sz="2400">
              <a:latin typeface="Times New Roman" panose="02020603050405020304" pitchFamily="18" charset="0"/>
              <a:cs typeface="Times New Roman" panose="02020603050405020304" pitchFamily="18" charset="0"/>
            </a:endParaRPr>
          </a:p>
          <a:p>
            <a:pPr algn="ctr">
              <a:spcBef>
                <a:spcPts val="0"/>
              </a:spcBef>
            </a:pPr>
            <a:r>
              <a:rPr lang="en-US" sz="2400" b="1">
                <a:latin typeface="Times New Roman" panose="02020603050405020304" pitchFamily="18" charset="0"/>
                <a:cs typeface="Times New Roman" panose="02020603050405020304" pitchFamily="18" charset="0"/>
              </a:rPr>
              <a:t>TRUYỀN THÔNG GTEL</a:t>
            </a:r>
            <a:endParaRPr lang="en-US" sz="2400">
              <a:latin typeface="Times New Roman" panose="02020603050405020304" pitchFamily="18" charset="0"/>
              <a:cs typeface="Times New Roman" panose="02020603050405020304" pitchFamily="18" charset="0"/>
            </a:endParaRPr>
          </a:p>
          <a:p>
            <a:pPr algn="ctr"/>
            <a:endParaRPr lang="en-US" sz="210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17A5FFF-E381-4F95-B4AB-7E0A1A4B3E54}"/>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4800600" y="1371600"/>
            <a:ext cx="1371600" cy="990600"/>
          </a:xfrm>
          <a:prstGeom prst="rect">
            <a:avLst/>
          </a:prstGeom>
        </p:spPr>
      </p:pic>
    </p:spTree>
    <p:extLst>
      <p:ext uri="{BB962C8B-B14F-4D97-AF65-F5344CB8AC3E}">
        <p14:creationId xmlns:p14="http://schemas.microsoft.com/office/powerpoint/2010/main" val="41586154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609599"/>
            <a:ext cx="8596668" cy="685800"/>
          </a:xfrm>
        </p:spPr>
        <p:txBody>
          <a:bodyPr>
            <a:normAutofit/>
          </a:bodyPr>
          <a:lstStyle/>
          <a:p>
            <a:r>
              <a:rPr lang="en-US" sz="3200" b="1" smtClean="0">
                <a:latin typeface="Times New Roman" panose="02020603050405020304" pitchFamily="18" charset="0"/>
                <a:cs typeface="Times New Roman" panose="02020603050405020304" pitchFamily="18" charset="0"/>
              </a:rPr>
              <a:t>Nội dung đào tạo ZDLRA</a:t>
            </a:r>
            <a:endParaRPr 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71600" y="1727994"/>
            <a:ext cx="8596668" cy="3880773"/>
          </a:xfrm>
        </p:spPr>
        <p:txBody>
          <a:bodyPr/>
          <a:lstStyle/>
          <a:p>
            <a:r>
              <a:rPr lang="en-US" smtClean="0">
                <a:solidFill>
                  <a:schemeClr val="tx1"/>
                </a:solidFill>
                <a:latin typeface="Times New Roman" panose="02020603050405020304" pitchFamily="18" charset="0"/>
                <a:cs typeface="Times New Roman" panose="02020603050405020304" pitchFamily="18" charset="0"/>
              </a:rPr>
              <a:t>Tổng quan giải pháp ZDLRA</a:t>
            </a:r>
          </a:p>
          <a:p>
            <a:r>
              <a:rPr lang="en-US" smtClean="0">
                <a:solidFill>
                  <a:schemeClr val="tx1"/>
                </a:solidFill>
                <a:latin typeface="Times New Roman" panose="02020603050405020304" pitchFamily="18" charset="0"/>
                <a:cs typeface="Times New Roman" panose="02020603050405020304" pitchFamily="18" charset="0"/>
              </a:rPr>
              <a:t>Thành phần cấu tạo</a:t>
            </a:r>
          </a:p>
          <a:p>
            <a:r>
              <a:rPr lang="en-US">
                <a:solidFill>
                  <a:schemeClr val="tx1"/>
                </a:solidFill>
                <a:latin typeface="Times New Roman" panose="02020603050405020304" pitchFamily="18" charset="0"/>
                <a:cs typeface="Times New Roman" panose="02020603050405020304" pitchFamily="18" charset="0"/>
              </a:rPr>
              <a:t>Các tính năng của giải </a:t>
            </a:r>
            <a:r>
              <a:rPr lang="en-US" smtClean="0">
                <a:solidFill>
                  <a:schemeClr val="tx1"/>
                </a:solidFill>
                <a:latin typeface="Times New Roman" panose="02020603050405020304" pitchFamily="18" charset="0"/>
                <a:cs typeface="Times New Roman" panose="02020603050405020304" pitchFamily="18" charset="0"/>
              </a:rPr>
              <a:t>pháp</a:t>
            </a:r>
          </a:p>
          <a:p>
            <a:r>
              <a:rPr lang="en-US" smtClean="0">
                <a:solidFill>
                  <a:schemeClr val="tx1"/>
                </a:solidFill>
                <a:latin typeface="Times New Roman" panose="02020603050405020304" pitchFamily="18" charset="0"/>
                <a:cs typeface="Times New Roman" panose="02020603050405020304" pitchFamily="18" charset="0"/>
              </a:rPr>
              <a:t>Kiến trúc hệ thống</a:t>
            </a:r>
          </a:p>
        </p:txBody>
      </p:sp>
      <p:sp>
        <p:nvSpPr>
          <p:cNvPr id="5" name="Slide Number Placeholder 4"/>
          <p:cNvSpPr>
            <a:spLocks noGrp="1"/>
          </p:cNvSpPr>
          <p:nvPr>
            <p:ph type="sldNum" sz="quarter" idx="12"/>
          </p:nvPr>
        </p:nvSpPr>
        <p:spPr>
          <a:xfrm>
            <a:off x="11201400" y="62484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2</a:t>
            </a:fld>
            <a:endParaRPr lang="en-US" sz="18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766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37878"/>
            <a:ext cx="8610600" cy="609600"/>
          </a:xfrm>
        </p:spPr>
        <p:txBody>
          <a:bodyPr>
            <a:normAutofit fontScale="90000"/>
          </a:bodyPr>
          <a:lstStyle/>
          <a:p>
            <a:r>
              <a:rPr lang="en-US" b="1" smtClean="0">
                <a:latin typeface="Times New Roman" panose="02020603050405020304" pitchFamily="18" charset="0"/>
                <a:cs typeface="Times New Roman" panose="02020603050405020304" pitchFamily="18" charset="0"/>
              </a:rPr>
              <a:t>Tổng quan </a:t>
            </a:r>
            <a:r>
              <a:rPr lang="en-US" b="1" err="1" smtClean="0">
                <a:latin typeface="Times New Roman" panose="02020603050405020304" pitchFamily="18" charset="0"/>
                <a:cs typeface="Times New Roman" panose="02020603050405020304" pitchFamily="18" charset="0"/>
              </a:rPr>
              <a:t>giải</a:t>
            </a:r>
            <a:r>
              <a:rPr lang="en-US" b="1" smtClean="0">
                <a:latin typeface="Times New Roman" panose="02020603050405020304" pitchFamily="18" charset="0"/>
                <a:cs typeface="Times New Roman" panose="02020603050405020304" pitchFamily="18" charset="0"/>
              </a:rPr>
              <a:t> </a:t>
            </a:r>
            <a:r>
              <a:rPr lang="en-US" b="1" err="1" smtClean="0">
                <a:latin typeface="Times New Roman" panose="02020603050405020304" pitchFamily="18" charset="0"/>
                <a:cs typeface="Times New Roman" panose="02020603050405020304" pitchFamily="18" charset="0"/>
              </a:rPr>
              <a:t>pháp</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4328" y="1524000"/>
            <a:ext cx="7162800" cy="5050762"/>
          </a:xfrm>
        </p:spPr>
        <p:txBody>
          <a:bodyPr>
            <a:normAutofit/>
          </a:bodyPr>
          <a:lstStyle/>
          <a:p>
            <a:pPr lvl="1" algn="just"/>
            <a:r>
              <a:rPr lang="en-US" sz="1800" smtClean="0">
                <a:solidFill>
                  <a:schemeClr val="tx1"/>
                </a:solidFill>
                <a:latin typeface="Times New Roman" panose="02020603050405020304" pitchFamily="18" charset="0"/>
                <a:cs typeface="Times New Roman" panose="02020603050405020304" pitchFamily="18" charset="0"/>
              </a:rPr>
              <a:t>Oracle Zero </a:t>
            </a:r>
            <a:r>
              <a:rPr lang="en-US" sz="1800">
                <a:solidFill>
                  <a:schemeClr val="tx1"/>
                </a:solidFill>
                <a:latin typeface="Times New Roman" panose="02020603050405020304" pitchFamily="18" charset="0"/>
                <a:cs typeface="Times New Roman" panose="02020603050405020304" pitchFamily="18" charset="0"/>
              </a:rPr>
              <a:t>Data Loss Recovery Appliance (ZDLRA) là một giải pháp </a:t>
            </a:r>
            <a:r>
              <a:rPr lang="en-US" sz="1800" smtClean="0">
                <a:solidFill>
                  <a:schemeClr val="tx1"/>
                </a:solidFill>
                <a:latin typeface="Times New Roman" panose="02020603050405020304" pitchFamily="18" charset="0"/>
                <a:cs typeface="Times New Roman" panose="02020603050405020304" pitchFamily="18" charset="0"/>
              </a:rPr>
              <a:t>backup </a:t>
            </a:r>
            <a:r>
              <a:rPr lang="en-US" sz="1800">
                <a:solidFill>
                  <a:schemeClr val="tx1"/>
                </a:solidFill>
                <a:latin typeface="Times New Roman" panose="02020603050405020304" pitchFamily="18" charset="0"/>
                <a:cs typeface="Times New Roman" panose="02020603050405020304" pitchFamily="18" charset="0"/>
              </a:rPr>
              <a:t>và phục hồi dữ liệu mạnh mẽ, được thiết </a:t>
            </a:r>
            <a:r>
              <a:rPr lang="en-US" sz="1800" smtClean="0">
                <a:solidFill>
                  <a:schemeClr val="tx1"/>
                </a:solidFill>
                <a:latin typeface="Times New Roman" panose="02020603050405020304" pitchFamily="18" charset="0"/>
                <a:cs typeface="Times New Roman" panose="02020603050405020304" pitchFamily="18" charset="0"/>
              </a:rPr>
              <a:t>kế đặc biệt </a:t>
            </a:r>
            <a:r>
              <a:rPr lang="en-US" sz="1800">
                <a:solidFill>
                  <a:schemeClr val="tx1"/>
                </a:solidFill>
                <a:latin typeface="Times New Roman" panose="02020603050405020304" pitchFamily="18" charset="0"/>
                <a:cs typeface="Times New Roman" panose="02020603050405020304" pitchFamily="18" charset="0"/>
              </a:rPr>
              <a:t>để </a:t>
            </a:r>
            <a:r>
              <a:rPr lang="en-US" sz="1800" smtClean="0">
                <a:solidFill>
                  <a:schemeClr val="tx1"/>
                </a:solidFill>
                <a:latin typeface="Times New Roman" panose="02020603050405020304" pitchFamily="18" charset="0"/>
                <a:cs typeface="Times New Roman" panose="02020603050405020304" pitchFamily="18" charset="0"/>
              </a:rPr>
              <a:t>bảo </a:t>
            </a:r>
            <a:r>
              <a:rPr lang="en-US" sz="1800">
                <a:solidFill>
                  <a:schemeClr val="tx1"/>
                </a:solidFill>
                <a:latin typeface="Times New Roman" panose="02020603050405020304" pitchFamily="18" charset="0"/>
                <a:cs typeface="Times New Roman" panose="02020603050405020304" pitchFamily="18" charset="0"/>
              </a:rPr>
              <a:t>vệ dữ </a:t>
            </a:r>
            <a:r>
              <a:rPr lang="en-US" sz="1800" smtClean="0">
                <a:solidFill>
                  <a:schemeClr val="tx1"/>
                </a:solidFill>
                <a:latin typeface="Times New Roman" panose="02020603050405020304" pitchFamily="18" charset="0"/>
                <a:cs typeface="Times New Roman" panose="02020603050405020304" pitchFamily="18" charset="0"/>
              </a:rPr>
              <a:t>liệu Oracle Database (Oracle Exada Database Machine). </a:t>
            </a:r>
            <a:endParaRPr lang="en-US" sz="1800">
              <a:solidFill>
                <a:schemeClr val="tx1"/>
              </a:solidFill>
              <a:latin typeface="Times New Roman" panose="02020603050405020304" pitchFamily="18" charset="0"/>
              <a:cs typeface="Times New Roman" panose="02020603050405020304" pitchFamily="18" charset="0"/>
            </a:endParaRPr>
          </a:p>
          <a:p>
            <a:pPr lvl="1" algn="just"/>
            <a:r>
              <a:rPr lang="en-US" sz="1800">
                <a:solidFill>
                  <a:schemeClr val="tx1"/>
                </a:solidFill>
                <a:latin typeface="Times New Roman" panose="02020603050405020304" pitchFamily="18" charset="0"/>
                <a:cs typeface="Times New Roman" panose="02020603050405020304" pitchFamily="18" charset="0"/>
              </a:rPr>
              <a:t>ZDLRA tích hợp </a:t>
            </a:r>
            <a:r>
              <a:rPr lang="en-US" sz="1800" smtClean="0">
                <a:solidFill>
                  <a:schemeClr val="tx1"/>
                </a:solidFill>
                <a:latin typeface="Times New Roman" panose="02020603050405020304" pitchFamily="18" charset="0"/>
                <a:cs typeface="Times New Roman" panose="02020603050405020304" pitchFamily="18" charset="0"/>
              </a:rPr>
              <a:t>phần </a:t>
            </a:r>
            <a:r>
              <a:rPr lang="en-US" sz="1800">
                <a:solidFill>
                  <a:schemeClr val="tx1"/>
                </a:solidFill>
                <a:latin typeface="Times New Roman" panose="02020603050405020304" pitchFamily="18" charset="0"/>
                <a:cs typeface="Times New Roman" panose="02020603050405020304" pitchFamily="18" charset="0"/>
              </a:rPr>
              <a:t>cứng và phần mềm để đảm bảo rằng dữ </a:t>
            </a:r>
            <a:r>
              <a:rPr lang="en-US" sz="1800" smtClean="0">
                <a:solidFill>
                  <a:schemeClr val="tx1"/>
                </a:solidFill>
                <a:latin typeface="Times New Roman" panose="02020603050405020304" pitchFamily="18" charset="0"/>
                <a:cs typeface="Times New Roman" panose="02020603050405020304" pitchFamily="18" charset="0"/>
              </a:rPr>
              <a:t>liệu được backup liên </a:t>
            </a:r>
            <a:r>
              <a:rPr lang="en-US" sz="1800">
                <a:solidFill>
                  <a:schemeClr val="tx1"/>
                </a:solidFill>
                <a:latin typeface="Times New Roman" panose="02020603050405020304" pitchFamily="18" charset="0"/>
                <a:cs typeface="Times New Roman" panose="02020603050405020304" pitchFamily="18" charset="0"/>
              </a:rPr>
              <a:t>tục và có thể phục hồi mà không gặp phải bất kỳ mất mát nào</a:t>
            </a:r>
            <a:r>
              <a:rPr lang="en-US" sz="1800" smtClean="0">
                <a:solidFill>
                  <a:schemeClr val="tx1"/>
                </a:solidFill>
                <a:latin typeface="Times New Roman" panose="02020603050405020304" pitchFamily="18" charset="0"/>
                <a:cs typeface="Times New Roman" panose="02020603050405020304" pitchFamily="18" charset="0"/>
              </a:rPr>
              <a:t>.</a:t>
            </a:r>
            <a:endParaRPr lang="en-AU" altLang="en-US" sz="180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3</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6" name="Picture 5" descr="zdlra_x5_ta4.png"/>
          <p:cNvPicPr>
            <a:picLocks noChangeAspect="1"/>
          </p:cNvPicPr>
          <p:nvPr/>
        </p:nvPicPr>
        <p:blipFill>
          <a:blip r:embed="rId3" cstate="print"/>
          <a:stretch>
            <a:fillRect/>
          </a:stretch>
        </p:blipFill>
        <p:spPr>
          <a:xfrm>
            <a:off x="7696200" y="422638"/>
            <a:ext cx="2732775" cy="6084524"/>
          </a:xfrm>
          <a:prstGeom prst="rect">
            <a:avLst/>
          </a:prstGeom>
        </p:spPr>
      </p:pic>
    </p:spTree>
    <p:extLst>
      <p:ext uri="{BB962C8B-B14F-4D97-AF65-F5344CB8AC3E}">
        <p14:creationId xmlns:p14="http://schemas.microsoft.com/office/powerpoint/2010/main" val="21462112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610600" cy="609600"/>
          </a:xfrm>
        </p:spPr>
        <p:txBody>
          <a:bodyPr>
            <a:normAutofit fontScale="90000"/>
          </a:bodyPr>
          <a:lstStyle/>
          <a:p>
            <a:r>
              <a:rPr lang="en-US" b="1">
                <a:latin typeface="Times New Roman" panose="02020603050405020304" pitchFamily="18" charset="0"/>
                <a:cs typeface="Times New Roman" panose="02020603050405020304" pitchFamily="18" charset="0"/>
              </a:rPr>
              <a:t>4 Backup Methods for Oracle Database</a:t>
            </a: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4</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3"/>
          <a:srcRect t="10040"/>
          <a:stretch/>
        </p:blipFill>
        <p:spPr>
          <a:xfrm>
            <a:off x="533400" y="1158875"/>
            <a:ext cx="10664162" cy="5165725"/>
          </a:xfrm>
          <a:prstGeom prst="rect">
            <a:avLst/>
          </a:prstGeom>
        </p:spPr>
      </p:pic>
    </p:spTree>
    <p:extLst>
      <p:ext uri="{BB962C8B-B14F-4D97-AF65-F5344CB8AC3E}">
        <p14:creationId xmlns:p14="http://schemas.microsoft.com/office/powerpoint/2010/main" val="4239724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610600" cy="609600"/>
          </a:xfrm>
        </p:spPr>
        <p:txBody>
          <a:bodyPr>
            <a:normAutofit fontScale="90000"/>
          </a:bodyPr>
          <a:lstStyle/>
          <a:p>
            <a:r>
              <a:rPr lang="en-US" b="1">
                <a:latin typeface="Times New Roman" panose="02020603050405020304" pitchFamily="18" charset="0"/>
                <a:cs typeface="Times New Roman" panose="02020603050405020304" pitchFamily="18" charset="0"/>
              </a:rPr>
              <a:t>ZDLRA is the 5th</a:t>
            </a: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5</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685800" y="1295400"/>
            <a:ext cx="10031225" cy="4591691"/>
          </a:xfrm>
          <a:prstGeom prst="rect">
            <a:avLst/>
          </a:prstGeom>
        </p:spPr>
      </p:pic>
    </p:spTree>
    <p:extLst>
      <p:ext uri="{BB962C8B-B14F-4D97-AF65-F5344CB8AC3E}">
        <p14:creationId xmlns:p14="http://schemas.microsoft.com/office/powerpoint/2010/main" val="36282955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610600" cy="609600"/>
          </a:xfrm>
        </p:spPr>
        <p:txBody>
          <a:bodyPr>
            <a:normAutofit fontScale="90000"/>
          </a:bodyPr>
          <a:lstStyle/>
          <a:p>
            <a:r>
              <a:rPr lang="en-US" b="1">
                <a:latin typeface="Times New Roman" panose="02020603050405020304" pitchFamily="18" charset="0"/>
                <a:cs typeface="Times New Roman" panose="02020603050405020304" pitchFamily="18" charset="0"/>
              </a:rPr>
              <a:t>Traditional Daily Full Backup</a:t>
            </a:r>
            <a:endParaRPr lang="en-US"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6</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3"/>
          <a:srcRect t="10248"/>
          <a:stretch/>
        </p:blipFill>
        <p:spPr>
          <a:xfrm>
            <a:off x="1066800" y="1219200"/>
            <a:ext cx="9821646" cy="4830762"/>
          </a:xfrm>
          <a:prstGeom prst="rect">
            <a:avLst/>
          </a:prstGeom>
        </p:spPr>
      </p:pic>
    </p:spTree>
    <p:extLst>
      <p:ext uri="{BB962C8B-B14F-4D97-AF65-F5344CB8AC3E}">
        <p14:creationId xmlns:p14="http://schemas.microsoft.com/office/powerpoint/2010/main" val="23658146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610600" cy="609600"/>
          </a:xfrm>
        </p:spPr>
        <p:txBody>
          <a:bodyPr>
            <a:normAutofit fontScale="90000"/>
          </a:bodyPr>
          <a:lstStyle/>
          <a:p>
            <a:r>
              <a:rPr lang="en-US" b="1">
                <a:latin typeface="Times New Roman" panose="02020603050405020304" pitchFamily="18" charset="0"/>
                <a:cs typeface="Times New Roman" panose="02020603050405020304" pitchFamily="18" charset="0"/>
              </a:rPr>
              <a:t>Traditional Weekly Full, Daily Incremental</a:t>
            </a:r>
            <a:endParaRPr lang="en-US"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7</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3"/>
          <a:srcRect/>
          <a:stretch/>
        </p:blipFill>
        <p:spPr>
          <a:xfrm>
            <a:off x="990600" y="1143000"/>
            <a:ext cx="9764488" cy="4906060"/>
          </a:xfrm>
          <a:prstGeom prst="rect">
            <a:avLst/>
          </a:prstGeom>
        </p:spPr>
      </p:pic>
    </p:spTree>
    <p:extLst>
      <p:ext uri="{BB962C8B-B14F-4D97-AF65-F5344CB8AC3E}">
        <p14:creationId xmlns:p14="http://schemas.microsoft.com/office/powerpoint/2010/main" val="19400369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610600" cy="609600"/>
          </a:xfrm>
        </p:spPr>
        <p:txBody>
          <a:bodyPr>
            <a:normAutofit fontScale="90000"/>
          </a:bodyPr>
          <a:lstStyle/>
          <a:p>
            <a:r>
              <a:rPr lang="vi-VN" b="1">
                <a:latin typeface="Times New Roman" panose="02020603050405020304" pitchFamily="18" charset="0"/>
                <a:cs typeface="Times New Roman" panose="02020603050405020304" pitchFamily="18" charset="0"/>
              </a:rPr>
              <a:t>ZDLRA – Phương pháp tiếp cận vượt trội</a:t>
            </a:r>
            <a:endParaRPr lang="en-US"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8</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3"/>
          <a:srcRect t="1547"/>
          <a:stretch/>
        </p:blipFill>
        <p:spPr>
          <a:xfrm>
            <a:off x="838200" y="1066800"/>
            <a:ext cx="10210778" cy="5105400"/>
          </a:xfrm>
          <a:prstGeom prst="rect">
            <a:avLst/>
          </a:prstGeom>
        </p:spPr>
      </p:pic>
    </p:spTree>
    <p:extLst>
      <p:ext uri="{BB962C8B-B14F-4D97-AF65-F5344CB8AC3E}">
        <p14:creationId xmlns:p14="http://schemas.microsoft.com/office/powerpoint/2010/main" val="3224171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9268"/>
            <a:ext cx="8596668" cy="685800"/>
          </a:xfrm>
        </p:spPr>
        <p:txBody>
          <a:bodyPr>
            <a:normAutofit/>
          </a:bodyPr>
          <a:lstStyle/>
          <a:p>
            <a:r>
              <a:rPr lang="en-US" sz="3200" b="1" smtClean="0">
                <a:latin typeface="Times New Roman" panose="02020603050405020304" pitchFamily="18" charset="0"/>
                <a:cs typeface="Times New Roman" panose="02020603050405020304" pitchFamily="18" charset="0"/>
              </a:rPr>
              <a:t>Thành phần tủ Rack RA23</a:t>
            </a:r>
            <a:endParaRPr 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990601"/>
            <a:ext cx="6705600" cy="5050762"/>
          </a:xfrm>
        </p:spPr>
        <p:txBody>
          <a:bodyPr/>
          <a:lstStyle/>
          <a:p>
            <a:pPr marL="0" indent="0">
              <a:buNone/>
            </a:pPr>
            <a:r>
              <a:rPr lang="en-US"/>
              <a:t/>
            </a:r>
            <a:br>
              <a:rPr lang="en-US"/>
            </a:br>
            <a:endParaRPr lang="en-US"/>
          </a:p>
        </p:txBody>
      </p:sp>
      <p:sp>
        <p:nvSpPr>
          <p:cNvPr id="5" name="Slide Number Placeholder 4"/>
          <p:cNvSpPr>
            <a:spLocks noGrp="1"/>
          </p:cNvSpPr>
          <p:nvPr>
            <p:ph type="sldNum" sz="quarter" idx="12"/>
          </p:nvPr>
        </p:nvSpPr>
        <p:spPr>
          <a:xfrm>
            <a:off x="112014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9</a:t>
            </a:fld>
            <a:endParaRPr lang="en-US" sz="1800" b="1">
              <a:solidFill>
                <a:schemeClr val="tx1"/>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421922908"/>
              </p:ext>
            </p:extLst>
          </p:nvPr>
        </p:nvGraphicFramePr>
        <p:xfrm>
          <a:off x="549844" y="1295400"/>
          <a:ext cx="3472312" cy="3032760"/>
        </p:xfrm>
        <a:graphic>
          <a:graphicData uri="http://schemas.openxmlformats.org/drawingml/2006/table">
            <a:tbl>
              <a:tblPr firstRow="1" bandRow="1">
                <a:tableStyleId>{5C22544A-7EE6-4342-B048-85BDC9FD1C3A}</a:tableStyleId>
              </a:tblPr>
              <a:tblGrid>
                <a:gridCol w="2405512">
                  <a:extLst>
                    <a:ext uri="{9D8B030D-6E8A-4147-A177-3AD203B41FA5}">
                      <a16:colId xmlns:a16="http://schemas.microsoft.com/office/drawing/2014/main" val="3689627020"/>
                    </a:ext>
                  </a:extLst>
                </a:gridCol>
                <a:gridCol w="1066800">
                  <a:extLst>
                    <a:ext uri="{9D8B030D-6E8A-4147-A177-3AD203B41FA5}">
                      <a16:colId xmlns:a16="http://schemas.microsoft.com/office/drawing/2014/main" val="3956553408"/>
                    </a:ext>
                  </a:extLst>
                </a:gridCol>
              </a:tblGrid>
              <a:tr h="370840">
                <a:tc>
                  <a:txBody>
                    <a:bodyPr/>
                    <a:lstStyle/>
                    <a:p>
                      <a:pPr algn="ctr"/>
                      <a:r>
                        <a:rPr lang="en-US" smtClean="0">
                          <a:latin typeface="Times New Roman" panose="02020603050405020304" pitchFamily="18" charset="0"/>
                          <a:cs typeface="Times New Roman" panose="02020603050405020304" pitchFamily="18" charset="0"/>
                        </a:rPr>
                        <a:t>Thành</a:t>
                      </a:r>
                      <a:r>
                        <a:rPr lang="en-US" baseline="0" smtClean="0">
                          <a:latin typeface="Times New Roman" panose="02020603050405020304" pitchFamily="18" charset="0"/>
                          <a:cs typeface="Times New Roman" panose="02020603050405020304" pitchFamily="18" charset="0"/>
                        </a:rPr>
                        <a:t> phần</a:t>
                      </a:r>
                      <a:endParaRPr lang="en-US">
                        <a:latin typeface="Times New Roman" panose="02020603050405020304" pitchFamily="18" charset="0"/>
                        <a:cs typeface="Times New Roman" panose="02020603050405020304" pitchFamily="18" charset="0"/>
                      </a:endParaRPr>
                    </a:p>
                  </a:txBody>
                  <a:tcPr/>
                </a:tc>
                <a:tc>
                  <a:txBody>
                    <a:bodyPr/>
                    <a:lstStyle/>
                    <a:p>
                      <a:pPr algn="ctr"/>
                      <a:r>
                        <a:rPr lang="en-US" smtClean="0">
                          <a:latin typeface="Times New Roman" panose="02020603050405020304" pitchFamily="18" charset="0"/>
                          <a:cs typeface="Times New Roman" panose="02020603050405020304" pitchFamily="18" charset="0"/>
                        </a:rPr>
                        <a:t>Số</a:t>
                      </a:r>
                      <a:r>
                        <a:rPr lang="en-US" baseline="0" smtClean="0">
                          <a:latin typeface="Times New Roman" panose="02020603050405020304" pitchFamily="18" charset="0"/>
                          <a:cs typeface="Times New Roman" panose="02020603050405020304" pitchFamily="18" charset="0"/>
                        </a:rPr>
                        <a:t> lượng</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11882712"/>
                  </a:ext>
                </a:extLst>
              </a:tr>
              <a:tr h="370840">
                <a:tc>
                  <a:txBody>
                    <a:bodyPr/>
                    <a:lstStyle/>
                    <a:p>
                      <a:r>
                        <a:rPr lang="en-US" sz="1800" b="0" i="0" kern="1200" smtClean="0">
                          <a:solidFill>
                            <a:schemeClr val="dk1"/>
                          </a:solidFill>
                          <a:effectLst/>
                          <a:latin typeface="Times New Roman" panose="02020603050405020304" pitchFamily="18" charset="0"/>
                          <a:ea typeface="+mn-ea"/>
                          <a:cs typeface="Times New Roman" panose="02020603050405020304" pitchFamily="18" charset="0"/>
                        </a:rPr>
                        <a:t>RA23 compute servers</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2</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3043937"/>
                  </a:ext>
                </a:extLst>
              </a:tr>
              <a:tr h="370840">
                <a:tc>
                  <a:txBody>
                    <a:bodyPr/>
                    <a:lstStyle/>
                    <a:p>
                      <a:r>
                        <a:rPr lang="en-US" sz="1800" b="0" i="0" kern="1200" smtClean="0">
                          <a:solidFill>
                            <a:schemeClr val="dk1"/>
                          </a:solidFill>
                          <a:effectLst/>
                          <a:latin typeface="Times New Roman" panose="02020603050405020304" pitchFamily="18" charset="0"/>
                          <a:ea typeface="+mn-ea"/>
                          <a:cs typeface="Times New Roman" panose="02020603050405020304" pitchFamily="18" charset="0"/>
                        </a:rPr>
                        <a:t>RA23 storage servers</a:t>
                      </a:r>
                      <a:r>
                        <a:rPr lang="en-US" smtClean="0">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3 -&gt; 17</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9134359"/>
                  </a:ext>
                </a:extLst>
              </a:tr>
              <a:tr h="370840">
                <a:tc>
                  <a:txBody>
                    <a:bodyPr/>
                    <a:lstStyle/>
                    <a:p>
                      <a:r>
                        <a:rPr lang="en-US" sz="1800" b="0" i="0" kern="1200" smtClean="0">
                          <a:solidFill>
                            <a:schemeClr val="dk1"/>
                          </a:solidFill>
                          <a:effectLst/>
                          <a:latin typeface="Times New Roman" panose="02020603050405020304" pitchFamily="18" charset="0"/>
                          <a:ea typeface="+mn-ea"/>
                          <a:cs typeface="Times New Roman" panose="02020603050405020304" pitchFamily="18" charset="0"/>
                        </a:rPr>
                        <a:t>36-Port 100 Gb/s RoCE switches</a:t>
                      </a:r>
                      <a:r>
                        <a:rPr lang="en-US" smtClean="0">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2</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2030417"/>
                  </a:ext>
                </a:extLst>
              </a:tr>
              <a:tr h="370840">
                <a:tc>
                  <a:txBody>
                    <a:bodyPr/>
                    <a:lstStyle/>
                    <a:p>
                      <a:r>
                        <a:rPr lang="en-US" sz="1800" b="0" i="0" kern="1200" smtClean="0">
                          <a:solidFill>
                            <a:schemeClr val="dk1"/>
                          </a:solidFill>
                          <a:effectLst/>
                          <a:latin typeface="Times New Roman" panose="02020603050405020304" pitchFamily="18" charset="0"/>
                          <a:ea typeface="+mn-ea"/>
                          <a:cs typeface="Times New Roman" panose="02020603050405020304" pitchFamily="18" charset="0"/>
                        </a:rPr>
                        <a:t>Dự</a:t>
                      </a:r>
                      <a:r>
                        <a:rPr lang="en-US" sz="1800" b="0" i="0" kern="1200" baseline="0" smtClean="0">
                          <a:solidFill>
                            <a:schemeClr val="dk1"/>
                          </a:solidFill>
                          <a:effectLst/>
                          <a:latin typeface="Times New Roman" panose="02020603050405020304" pitchFamily="18" charset="0"/>
                          <a:ea typeface="+mn-ea"/>
                          <a:cs typeface="Times New Roman" panose="02020603050405020304" pitchFamily="18" charset="0"/>
                        </a:rPr>
                        <a:t> phòng</a:t>
                      </a:r>
                      <a:r>
                        <a:rPr lang="en-US" sz="1800" b="0" i="0" kern="1200" smtClean="0">
                          <a:solidFill>
                            <a:schemeClr val="dk1"/>
                          </a:solidFill>
                          <a:effectLst/>
                          <a:latin typeface="Times New Roman" panose="02020603050405020304" pitchFamily="18" charset="0"/>
                          <a:ea typeface="+mn-ea"/>
                          <a:cs typeface="Times New Roman" panose="02020603050405020304" pitchFamily="18" charset="0"/>
                        </a:rPr>
                        <a:t> 15 kVA PDUs</a:t>
                      </a:r>
                      <a:r>
                        <a:rPr lang="en-US" smtClean="0">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2</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9833063"/>
                  </a:ext>
                </a:extLst>
              </a:tr>
              <a:tr h="370840">
                <a:tc>
                  <a:txBody>
                    <a:bodyPr/>
                    <a:lstStyle/>
                    <a:p>
                      <a:r>
                        <a:rPr lang="en-US" sz="1800" b="0" i="0" kern="1200" smtClean="0">
                          <a:solidFill>
                            <a:schemeClr val="dk1"/>
                          </a:solidFill>
                          <a:effectLst/>
                          <a:latin typeface="Times New Roman" panose="02020603050405020304" pitchFamily="18" charset="0"/>
                          <a:ea typeface="+mn-ea"/>
                          <a:cs typeface="Times New Roman" panose="02020603050405020304" pitchFamily="18" charset="0"/>
                        </a:rPr>
                        <a:t>48-port Management Ethernet switch</a:t>
                      </a:r>
                      <a:r>
                        <a:rPr lang="en-US" smtClean="0">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1</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95047454"/>
                  </a:ext>
                </a:extLst>
              </a:tr>
            </a:tbl>
          </a:graphicData>
        </a:graphic>
      </p:graphicFrame>
      <p:pic>
        <p:nvPicPr>
          <p:cNvPr id="9" name="Picture 8"/>
          <p:cNvPicPr>
            <a:picLocks noChangeAspect="1"/>
          </p:cNvPicPr>
          <p:nvPr/>
        </p:nvPicPr>
        <p:blipFill rotWithShape="1">
          <a:blip r:embed="rId3"/>
          <a:srcRect r="3194"/>
          <a:stretch/>
        </p:blipFill>
        <p:spPr>
          <a:xfrm>
            <a:off x="7034548" y="835236"/>
            <a:ext cx="4285519" cy="5904777"/>
          </a:xfrm>
          <a:prstGeom prst="rect">
            <a:avLst/>
          </a:prstGeom>
        </p:spPr>
      </p:pic>
      <p:sp>
        <p:nvSpPr>
          <p:cNvPr id="10" name="Rectangle 9"/>
          <p:cNvSpPr/>
          <p:nvPr/>
        </p:nvSpPr>
        <p:spPr>
          <a:xfrm>
            <a:off x="10424528" y="5334000"/>
            <a:ext cx="3810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zdlra_x5_ta4.png"/>
          <p:cNvPicPr>
            <a:picLocks noChangeAspect="1"/>
          </p:cNvPicPr>
          <p:nvPr/>
        </p:nvPicPr>
        <p:blipFill>
          <a:blip r:embed="rId4" cstate="print"/>
          <a:stretch>
            <a:fillRect/>
          </a:stretch>
        </p:blipFill>
        <p:spPr>
          <a:xfrm>
            <a:off x="4267200" y="723274"/>
            <a:ext cx="2600384" cy="5789754"/>
          </a:xfrm>
          <a:prstGeom prst="rect">
            <a:avLst/>
          </a:prstGeom>
        </p:spPr>
      </p:pic>
    </p:spTree>
    <p:extLst>
      <p:ext uri="{BB962C8B-B14F-4D97-AF65-F5344CB8AC3E}">
        <p14:creationId xmlns:p14="http://schemas.microsoft.com/office/powerpoint/2010/main" val="29900654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0377"/>
            <a:ext cx="8596668" cy="685800"/>
          </a:xfrm>
        </p:spPr>
        <p:txBody>
          <a:bodyPr>
            <a:normAutofit/>
          </a:bodyPr>
          <a:lstStyle/>
          <a:p>
            <a:r>
              <a:rPr lang="en-US" sz="3200" b="1" smtClean="0">
                <a:latin typeface="Times New Roman" panose="02020603050405020304" pitchFamily="18" charset="0"/>
                <a:cs typeface="Times New Roman" panose="02020603050405020304" pitchFamily="18" charset="0"/>
              </a:rPr>
              <a:t>RA23 compute server</a:t>
            </a:r>
            <a:endParaRPr lang="en-US" sz="3200"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014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10</a:t>
            </a:fld>
            <a:endParaRPr lang="en-US" sz="1800" b="1">
              <a:solidFill>
                <a:schemeClr val="tx1"/>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234445597"/>
              </p:ext>
            </p:extLst>
          </p:nvPr>
        </p:nvGraphicFramePr>
        <p:xfrm>
          <a:off x="609600" y="896177"/>
          <a:ext cx="9601200" cy="5593080"/>
        </p:xfrm>
        <a:graphic>
          <a:graphicData uri="http://schemas.openxmlformats.org/drawingml/2006/table">
            <a:tbl>
              <a:tblPr firstRow="1" bandRow="1">
                <a:tableStyleId>{5C22544A-7EE6-4342-B048-85BDC9FD1C3A}</a:tableStyleId>
              </a:tblPr>
              <a:tblGrid>
                <a:gridCol w="2041200">
                  <a:extLst>
                    <a:ext uri="{9D8B030D-6E8A-4147-A177-3AD203B41FA5}">
                      <a16:colId xmlns:a16="http://schemas.microsoft.com/office/drawing/2014/main" val="2066981439"/>
                    </a:ext>
                  </a:extLst>
                </a:gridCol>
                <a:gridCol w="7560000">
                  <a:extLst>
                    <a:ext uri="{9D8B030D-6E8A-4147-A177-3AD203B41FA5}">
                      <a16:colId xmlns:a16="http://schemas.microsoft.com/office/drawing/2014/main" val="2996304335"/>
                    </a:ext>
                  </a:extLst>
                </a:gridCol>
              </a:tblGrid>
              <a:tr h="370840">
                <a:tc>
                  <a:txBody>
                    <a:bodyPr/>
                    <a:lstStyle/>
                    <a:p>
                      <a:pPr algn="ctr"/>
                      <a:r>
                        <a:rPr lang="en-US" smtClean="0">
                          <a:latin typeface="Times New Roman" panose="02020603050405020304" pitchFamily="18" charset="0"/>
                          <a:cs typeface="Times New Roman" panose="02020603050405020304" pitchFamily="18" charset="0"/>
                        </a:rPr>
                        <a:t>Compute Server</a:t>
                      </a:r>
                      <a:endParaRPr lang="en-US">
                        <a:latin typeface="Times New Roman" panose="02020603050405020304" pitchFamily="18" charset="0"/>
                        <a:cs typeface="Times New Roman" panose="02020603050405020304" pitchFamily="18" charset="0"/>
                      </a:endParaRPr>
                    </a:p>
                  </a:txBody>
                  <a:tcPr/>
                </a:tc>
                <a:tc>
                  <a:txBody>
                    <a:bodyPr/>
                    <a:lstStyle/>
                    <a:p>
                      <a:pPr algn="ctr"/>
                      <a:r>
                        <a:rPr lang="en-US" smtClean="0">
                          <a:latin typeface="Times New Roman" panose="02020603050405020304" pitchFamily="18" charset="0"/>
                          <a:cs typeface="Times New Roman" panose="02020603050405020304" pitchFamily="18" charset="0"/>
                        </a:rPr>
                        <a:t>Description</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5670926"/>
                  </a:ext>
                </a:extLst>
              </a:tr>
              <a:tr h="370840">
                <a:tc>
                  <a:txBody>
                    <a:bodyPr/>
                    <a:lstStyle/>
                    <a:p>
                      <a:r>
                        <a:rPr lang="en-US" smtClean="0">
                          <a:latin typeface="Times New Roman" panose="02020603050405020304" pitchFamily="18" charset="0"/>
                          <a:cs typeface="Times New Roman" panose="02020603050405020304" pitchFamily="18" charset="0"/>
                        </a:rPr>
                        <a:t>Storage</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2x NVMe-Flash SSD (hot-swappable)</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610982"/>
                  </a:ext>
                </a:extLst>
              </a:tr>
              <a:tr h="370840">
                <a:tc>
                  <a:txBody>
                    <a:bodyPr/>
                    <a:lstStyle/>
                    <a:p>
                      <a:r>
                        <a:rPr lang="en-US" smtClean="0">
                          <a:latin typeface="Times New Roman" panose="02020603050405020304" pitchFamily="18" charset="0"/>
                          <a:cs typeface="Times New Roman" panose="02020603050405020304" pitchFamily="18" charset="0"/>
                        </a:rPr>
                        <a:t>Network</a:t>
                      </a:r>
                      <a:endParaRPr lang="en-US">
                        <a:latin typeface="Times New Roman" panose="02020603050405020304" pitchFamily="18" charset="0"/>
                        <a:cs typeface="Times New Roman" panose="02020603050405020304" pitchFamily="18" charset="0"/>
                      </a:endParaRPr>
                    </a:p>
                  </a:txBody>
                  <a:tcPr/>
                </a:tc>
                <a:tc>
                  <a:txBody>
                    <a:bodyPr/>
                    <a:lstStyle/>
                    <a:p>
                      <a:pPr marL="285750" indent="-285750">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2 x Dual Port 10/25 Gb Ethernet SFP28 </a:t>
                      </a:r>
                    </a:p>
                    <a:p>
                      <a:pPr lvl="1"/>
                      <a:r>
                        <a:rPr lang="en-US" smtClean="0">
                          <a:latin typeface="Times New Roman" panose="02020603050405020304" pitchFamily="18" charset="0"/>
                          <a:cs typeface="Times New Roman" panose="02020603050405020304" pitchFamily="18" charset="0"/>
                        </a:rPr>
                        <a:t>– 2 x 10/25 Gb optical (ingest) </a:t>
                      </a:r>
                    </a:p>
                    <a:p>
                      <a:pPr lvl="1"/>
                      <a:r>
                        <a:rPr lang="en-US" smtClean="0">
                          <a:latin typeface="Times New Roman" panose="02020603050405020304" pitchFamily="18" charset="0"/>
                          <a:cs typeface="Times New Roman" panose="02020603050405020304" pitchFamily="18" charset="0"/>
                        </a:rPr>
                        <a:t>– 2 x 10/25 Gb optical (replication)</a:t>
                      </a:r>
                    </a:p>
                    <a:p>
                      <a:pPr marL="285750" indent="-285750">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2 x Dual Port 100 Gb Ethernet QSFP28 </a:t>
                      </a:r>
                    </a:p>
                    <a:p>
                      <a:pPr lvl="1"/>
                      <a:r>
                        <a:rPr lang="en-US" smtClean="0">
                          <a:latin typeface="Times New Roman" panose="02020603050405020304" pitchFamily="18" charset="0"/>
                          <a:cs typeface="Times New Roman" panose="02020603050405020304" pitchFamily="18" charset="0"/>
                        </a:rPr>
                        <a:t>– 2 x 100 Gb optical (ingest) </a:t>
                      </a:r>
                    </a:p>
                    <a:p>
                      <a:pPr lvl="1"/>
                      <a:r>
                        <a:rPr lang="en-US" smtClean="0">
                          <a:latin typeface="Times New Roman" panose="02020603050405020304" pitchFamily="18" charset="0"/>
                          <a:cs typeface="Times New Roman" panose="02020603050405020304" pitchFamily="18" charset="0"/>
                        </a:rPr>
                        <a:t>– 2 x 100 Gb optical (replication)</a:t>
                      </a:r>
                    </a:p>
                    <a:p>
                      <a:pPr marL="285750" indent="-285750">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1 x Quad Port 10 Gb Ethernet RJ45 </a:t>
                      </a:r>
                    </a:p>
                    <a:p>
                      <a:pPr lvl="1"/>
                      <a:r>
                        <a:rPr lang="en-US" smtClean="0">
                          <a:latin typeface="Times New Roman" panose="02020603050405020304" pitchFamily="18" charset="0"/>
                          <a:cs typeface="Times New Roman" panose="02020603050405020304" pitchFamily="18" charset="0"/>
                        </a:rPr>
                        <a:t>– 2 x 10 Gb copper (ingest) </a:t>
                      </a:r>
                    </a:p>
                    <a:p>
                      <a:pPr lvl="1"/>
                      <a:r>
                        <a:rPr lang="en-US" smtClean="0">
                          <a:latin typeface="Times New Roman" panose="02020603050405020304" pitchFamily="18" charset="0"/>
                          <a:cs typeface="Times New Roman" panose="02020603050405020304" pitchFamily="18" charset="0"/>
                        </a:rPr>
                        <a:t>– 2 x 10 Gb copper (replication) </a:t>
                      </a:r>
                    </a:p>
                    <a:p>
                      <a:pPr marL="285750" indent="-285750">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Optional Ports </a:t>
                      </a:r>
                    </a:p>
                    <a:p>
                      <a:pPr marL="457200" lvl="1" indent="0">
                        <a:buFont typeface="Wingdings" panose="05000000000000000000" pitchFamily="2" charset="2"/>
                        <a:buNone/>
                      </a:pPr>
                      <a:r>
                        <a:rPr lang="en-US" smtClean="0">
                          <a:latin typeface="Times New Roman" panose="02020603050405020304" pitchFamily="18" charset="0"/>
                          <a:cs typeface="Times New Roman" panose="02020603050405020304" pitchFamily="18" charset="0"/>
                        </a:rPr>
                        <a:t>– Sun Storage Dual 32 Gb Fibre Channel PCIe Universal HBA, QLogic for tape </a:t>
                      </a:r>
                      <a:r>
                        <a:rPr lang="en-US" sz="1800" kern="1200" smtClean="0">
                          <a:solidFill>
                            <a:schemeClr val="dk1"/>
                          </a:solidFill>
                          <a:latin typeface="Times New Roman" panose="02020603050405020304" pitchFamily="18" charset="0"/>
                          <a:ea typeface="+mn-ea"/>
                          <a:cs typeface="Times New Roman" panose="02020603050405020304" pitchFamily="18" charset="0"/>
                        </a:rPr>
                        <a:t>connectivity</a:t>
                      </a:r>
                    </a:p>
                    <a:p>
                      <a:pPr marL="285750" lvl="1" indent="-285750" algn="l" defTabSz="457200" rtl="0" eaLnBrk="1" latinLnBrk="0" hangingPunct="1">
                        <a:buFont typeface="Wingdings" panose="05000000000000000000" pitchFamily="2" charset="2"/>
                        <a:buChar char="Ø"/>
                      </a:pPr>
                      <a:r>
                        <a:rPr lang="en-US" sz="1800" kern="1200" smtClean="0">
                          <a:solidFill>
                            <a:schemeClr val="dk1"/>
                          </a:solidFill>
                          <a:latin typeface="Times New Roman" panose="02020603050405020304" pitchFamily="18" charset="0"/>
                          <a:ea typeface="+mn-ea"/>
                          <a:cs typeface="Times New Roman" panose="02020603050405020304" pitchFamily="18" charset="0"/>
                        </a:rPr>
                        <a:t>Standard Ports</a:t>
                      </a:r>
                    </a:p>
                    <a:p>
                      <a:pPr marL="457200" lvl="1" indent="0">
                        <a:buFont typeface="Wingdings" panose="05000000000000000000" pitchFamily="2" charset="2"/>
                        <a:buNone/>
                      </a:pPr>
                      <a:r>
                        <a:rPr lang="en-US" smtClean="0">
                          <a:latin typeface="Times New Roman" panose="02020603050405020304" pitchFamily="18" charset="0"/>
                          <a:cs typeface="Times New Roman" panose="02020603050405020304" pitchFamily="18" charset="0"/>
                        </a:rPr>
                        <a:t>– 2 x 100 Gb QSFP28 RoCE Fabric Ports</a:t>
                      </a:r>
                    </a:p>
                    <a:p>
                      <a:pPr marL="457200" lvl="1" indent="0">
                        <a:buFont typeface="Wingdings" panose="05000000000000000000" pitchFamily="2" charset="2"/>
                        <a:buNone/>
                      </a:pPr>
                      <a:r>
                        <a:rPr lang="en-US" smtClean="0">
                          <a:latin typeface="Times New Roman" panose="02020603050405020304" pitchFamily="18" charset="0"/>
                          <a:cs typeface="Times New Roman" panose="02020603050405020304" pitchFamily="18" charset="0"/>
                        </a:rPr>
                        <a:t>– 1 x 1 Gb copper Ethernet Port (mgmt)</a:t>
                      </a:r>
                    </a:p>
                    <a:p>
                      <a:pPr marL="457200" lvl="1" indent="0">
                        <a:buFont typeface="Wingdings" panose="05000000000000000000" pitchFamily="2" charset="2"/>
                        <a:buNone/>
                      </a:pPr>
                      <a:r>
                        <a:rPr lang="en-US" smtClean="0">
                          <a:latin typeface="Times New Roman" panose="02020603050405020304" pitchFamily="18" charset="0"/>
                          <a:cs typeface="Times New Roman" panose="02020603050405020304" pitchFamily="18" charset="0"/>
                        </a:rPr>
                        <a:t>– 1 x ILOM Ethernet Port </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6144253"/>
                  </a:ext>
                </a:extLst>
              </a:tr>
              <a:tr h="370840">
                <a:tc>
                  <a:txBody>
                    <a:bodyPr/>
                    <a:lstStyle/>
                    <a:p>
                      <a:r>
                        <a:rPr lang="en-US" smtClean="0">
                          <a:latin typeface="Times New Roman" panose="02020603050405020304" pitchFamily="18" charset="0"/>
                          <a:cs typeface="Times New Roman" panose="02020603050405020304" pitchFamily="18" charset="0"/>
                        </a:rPr>
                        <a:t>FAN, PSU</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All servers include redundant hot swappable fans and power supplies</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3129770"/>
                  </a:ext>
                </a:extLst>
              </a:tr>
            </a:tbl>
          </a:graphicData>
        </a:graphic>
      </p:graphicFrame>
    </p:spTree>
    <p:extLst>
      <p:ext uri="{BB962C8B-B14F-4D97-AF65-F5344CB8AC3E}">
        <p14:creationId xmlns:p14="http://schemas.microsoft.com/office/powerpoint/2010/main" val="5000604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0377"/>
            <a:ext cx="8596668" cy="685800"/>
          </a:xfrm>
        </p:spPr>
        <p:txBody>
          <a:bodyPr>
            <a:normAutofit/>
          </a:bodyPr>
          <a:lstStyle/>
          <a:p>
            <a:r>
              <a:rPr lang="en-US" sz="3200" b="1" smtClean="0">
                <a:latin typeface="Times New Roman" panose="02020603050405020304" pitchFamily="18" charset="0"/>
                <a:cs typeface="Times New Roman" panose="02020603050405020304" pitchFamily="18" charset="0"/>
              </a:rPr>
              <a:t>RA23 storage server</a:t>
            </a:r>
            <a:endParaRPr lang="en-US" sz="3200"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014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11</a:t>
            </a:fld>
            <a:endParaRPr lang="en-US" sz="1800" b="1">
              <a:solidFill>
                <a:schemeClr val="tx1"/>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048563919"/>
              </p:ext>
            </p:extLst>
          </p:nvPr>
        </p:nvGraphicFramePr>
        <p:xfrm>
          <a:off x="914400" y="1219200"/>
          <a:ext cx="8291868" cy="2296160"/>
        </p:xfrm>
        <a:graphic>
          <a:graphicData uri="http://schemas.openxmlformats.org/drawingml/2006/table">
            <a:tbl>
              <a:tblPr firstRow="1" bandRow="1">
                <a:tableStyleId>{5C22544A-7EE6-4342-B048-85BDC9FD1C3A}</a:tableStyleId>
              </a:tblPr>
              <a:tblGrid>
                <a:gridCol w="1762838">
                  <a:extLst>
                    <a:ext uri="{9D8B030D-6E8A-4147-A177-3AD203B41FA5}">
                      <a16:colId xmlns:a16="http://schemas.microsoft.com/office/drawing/2014/main" val="2066981439"/>
                    </a:ext>
                  </a:extLst>
                </a:gridCol>
                <a:gridCol w="6529030">
                  <a:extLst>
                    <a:ext uri="{9D8B030D-6E8A-4147-A177-3AD203B41FA5}">
                      <a16:colId xmlns:a16="http://schemas.microsoft.com/office/drawing/2014/main" val="2996304335"/>
                    </a:ext>
                  </a:extLst>
                </a:gridCol>
              </a:tblGrid>
              <a:tr h="370840">
                <a:tc>
                  <a:txBody>
                    <a:bodyPr/>
                    <a:lstStyle/>
                    <a:p>
                      <a:pPr algn="ctr"/>
                      <a:r>
                        <a:rPr lang="en-US" smtClean="0">
                          <a:latin typeface="Times New Roman" panose="02020603050405020304" pitchFamily="18" charset="0"/>
                          <a:cs typeface="Times New Roman" panose="02020603050405020304" pitchFamily="18" charset="0"/>
                        </a:rPr>
                        <a:t>Storage Server</a:t>
                      </a:r>
                      <a:endParaRPr lang="en-US">
                        <a:latin typeface="Times New Roman" panose="02020603050405020304" pitchFamily="18" charset="0"/>
                        <a:cs typeface="Times New Roman" panose="02020603050405020304" pitchFamily="18" charset="0"/>
                      </a:endParaRPr>
                    </a:p>
                  </a:txBody>
                  <a:tcPr/>
                </a:tc>
                <a:tc>
                  <a:txBody>
                    <a:bodyPr/>
                    <a:lstStyle/>
                    <a:p>
                      <a:pPr algn="ctr"/>
                      <a:r>
                        <a:rPr lang="en-US" smtClean="0">
                          <a:latin typeface="Times New Roman" panose="02020603050405020304" pitchFamily="18" charset="0"/>
                          <a:cs typeface="Times New Roman" panose="02020603050405020304" pitchFamily="18" charset="0"/>
                        </a:rPr>
                        <a:t>Description</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5670926"/>
                  </a:ext>
                </a:extLst>
              </a:tr>
              <a:tr h="370840">
                <a:tc>
                  <a:txBody>
                    <a:bodyPr/>
                    <a:lstStyle/>
                    <a:p>
                      <a:r>
                        <a:rPr lang="en-US" smtClean="0">
                          <a:latin typeface="Times New Roman" panose="02020603050405020304" pitchFamily="18" charset="0"/>
                          <a:cs typeface="Times New Roman" panose="02020603050405020304" pitchFamily="18" charset="0"/>
                        </a:rPr>
                        <a:t>Storage</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12 x 22 TB 7,200 RPM disks </a:t>
                      </a:r>
                    </a:p>
                    <a:p>
                      <a:r>
                        <a:rPr lang="en-US" smtClean="0">
                          <a:latin typeface="Times New Roman" panose="02020603050405020304" pitchFamily="18" charset="0"/>
                          <a:cs typeface="Times New Roman" panose="02020603050405020304" pitchFamily="18" charset="0"/>
                        </a:rPr>
                        <a:t>2 x NVMe Flash Acceleration Cards</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610982"/>
                  </a:ext>
                </a:extLst>
              </a:tr>
              <a:tr h="370840">
                <a:tc>
                  <a:txBody>
                    <a:bodyPr/>
                    <a:lstStyle/>
                    <a:p>
                      <a:r>
                        <a:rPr lang="en-US" smtClean="0">
                          <a:latin typeface="Times New Roman" panose="02020603050405020304" pitchFamily="18" charset="0"/>
                          <a:cs typeface="Times New Roman" panose="02020603050405020304" pitchFamily="18" charset="0"/>
                        </a:rPr>
                        <a:t>Network</a:t>
                      </a:r>
                      <a:endParaRPr lang="en-US">
                        <a:latin typeface="Times New Roman" panose="02020603050405020304" pitchFamily="18" charset="0"/>
                        <a:cs typeface="Times New Roman" panose="02020603050405020304" pitchFamily="18" charset="0"/>
                      </a:endParaRPr>
                    </a:p>
                  </a:txBody>
                  <a:tcPr/>
                </a:tc>
                <a:tc>
                  <a:txBody>
                    <a:bodyPr/>
                    <a:lstStyle/>
                    <a:p>
                      <a:pPr marL="285750" indent="-285750">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2 x 100 Gb QSFP28 RoCE Fabric ports</a:t>
                      </a:r>
                    </a:p>
                    <a:p>
                      <a:pPr marL="285750" indent="-285750">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1 x 1 Gb copper Ethernet port (mgmt)</a:t>
                      </a:r>
                    </a:p>
                    <a:p>
                      <a:pPr marL="285750" indent="-285750">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1 x ILOM Ethernet port</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6144253"/>
                  </a:ext>
                </a:extLst>
              </a:tr>
              <a:tr h="370840">
                <a:tc>
                  <a:txBody>
                    <a:bodyPr/>
                    <a:lstStyle/>
                    <a:p>
                      <a:r>
                        <a:rPr lang="en-US" smtClean="0">
                          <a:latin typeface="Times New Roman" panose="02020603050405020304" pitchFamily="18" charset="0"/>
                          <a:cs typeface="Times New Roman" panose="02020603050405020304" pitchFamily="18" charset="0"/>
                        </a:rPr>
                        <a:t>FAN, PSU</a:t>
                      </a:r>
                      <a:endParaRPr lang="en-US">
                        <a:latin typeface="Times New Roman" panose="02020603050405020304" pitchFamily="18" charset="0"/>
                        <a:cs typeface="Times New Roman" panose="02020603050405020304" pitchFamily="18" charset="0"/>
                      </a:endParaRPr>
                    </a:p>
                  </a:txBody>
                  <a:tcPr/>
                </a:tc>
                <a:tc>
                  <a:txBody>
                    <a:bodyPr/>
                    <a:lstStyle/>
                    <a:p>
                      <a:r>
                        <a:rPr lang="en-US" smtClean="0">
                          <a:latin typeface="Times New Roman" panose="02020603050405020304" pitchFamily="18" charset="0"/>
                          <a:cs typeface="Times New Roman" panose="02020603050405020304" pitchFamily="18" charset="0"/>
                        </a:rPr>
                        <a:t>All servers include redundant hot swappable fans and power supplies</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3129770"/>
                  </a:ext>
                </a:extLst>
              </a:tr>
            </a:tbl>
          </a:graphicData>
        </a:graphic>
      </p:graphicFrame>
    </p:spTree>
    <p:extLst>
      <p:ext uri="{BB962C8B-B14F-4D97-AF65-F5344CB8AC3E}">
        <p14:creationId xmlns:p14="http://schemas.microsoft.com/office/powerpoint/2010/main" val="36091387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0377"/>
            <a:ext cx="8596668" cy="685800"/>
          </a:xfrm>
        </p:spPr>
        <p:txBody>
          <a:bodyPr>
            <a:normAutofit/>
          </a:bodyPr>
          <a:lstStyle/>
          <a:p>
            <a:r>
              <a:rPr lang="en-US" sz="3200" b="1" smtClean="0">
                <a:latin typeface="Times New Roman" panose="02020603050405020304" pitchFamily="18" charset="0"/>
                <a:cs typeface="Times New Roman" panose="02020603050405020304" pitchFamily="18" charset="0"/>
              </a:rPr>
              <a:t>Kiến trúc Recovery Appliance</a:t>
            </a:r>
            <a:endParaRPr lang="en-US" sz="3200"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014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12</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4230329" y="947797"/>
            <a:ext cx="6934200" cy="5559365"/>
          </a:xfrm>
          <a:prstGeom prst="rect">
            <a:avLst/>
          </a:prstGeom>
        </p:spPr>
      </p:pic>
      <p:sp>
        <p:nvSpPr>
          <p:cNvPr id="6" name="Content Placeholder 2"/>
          <p:cNvSpPr>
            <a:spLocks noGrp="1"/>
          </p:cNvSpPr>
          <p:nvPr>
            <p:ph idx="1"/>
          </p:nvPr>
        </p:nvSpPr>
        <p:spPr>
          <a:xfrm>
            <a:off x="339213" y="957629"/>
            <a:ext cx="3505200" cy="4267200"/>
          </a:xfrm>
        </p:spPr>
        <p:txBody>
          <a:bodyPr>
            <a:noAutofit/>
          </a:bodyPr>
          <a:lstStyle/>
          <a:p>
            <a:pPr lvl="1"/>
            <a:r>
              <a:rPr lang="en-US" sz="1800">
                <a:solidFill>
                  <a:schemeClr val="tx1"/>
                </a:solidFill>
                <a:latin typeface="Times New Roman" panose="02020603050405020304" pitchFamily="18" charset="0"/>
                <a:cs typeface="Times New Roman" panose="02020603050405020304" pitchFamily="18" charset="0"/>
              </a:rPr>
              <a:t>Protected </a:t>
            </a:r>
            <a:r>
              <a:rPr lang="en-US" sz="1800" smtClean="0">
                <a:solidFill>
                  <a:schemeClr val="tx1"/>
                </a:solidFill>
                <a:latin typeface="Times New Roman" panose="02020603050405020304" pitchFamily="18" charset="0"/>
                <a:cs typeface="Times New Roman" panose="02020603050405020304" pitchFamily="18" charset="0"/>
              </a:rPr>
              <a:t>Databases</a:t>
            </a:r>
          </a:p>
          <a:p>
            <a:pPr lvl="1"/>
            <a:r>
              <a:rPr lang="en-US" sz="1800">
                <a:solidFill>
                  <a:schemeClr val="tx1"/>
                </a:solidFill>
                <a:latin typeface="Times New Roman" panose="02020603050405020304" pitchFamily="18" charset="0"/>
                <a:cs typeface="Times New Roman" panose="02020603050405020304" pitchFamily="18" charset="0"/>
              </a:rPr>
              <a:t>Recovery </a:t>
            </a:r>
            <a:r>
              <a:rPr lang="en-US" sz="1800" smtClean="0">
                <a:solidFill>
                  <a:schemeClr val="tx1"/>
                </a:solidFill>
                <a:latin typeface="Times New Roman" panose="02020603050405020304" pitchFamily="18" charset="0"/>
                <a:cs typeface="Times New Roman" panose="02020603050405020304" pitchFamily="18" charset="0"/>
              </a:rPr>
              <a:t>Appliance</a:t>
            </a:r>
          </a:p>
          <a:p>
            <a:pPr lvl="1"/>
            <a:r>
              <a:rPr lang="en-US" sz="1800">
                <a:solidFill>
                  <a:schemeClr val="tx1"/>
                </a:solidFill>
                <a:latin typeface="Times New Roman" panose="02020603050405020304" pitchFamily="18" charset="0"/>
                <a:cs typeface="Times New Roman" panose="02020603050405020304" pitchFamily="18" charset="0"/>
              </a:rPr>
              <a:t>Recovery Appliance metadata </a:t>
            </a:r>
            <a:r>
              <a:rPr lang="en-US" sz="1800" smtClean="0">
                <a:solidFill>
                  <a:schemeClr val="tx1"/>
                </a:solidFill>
                <a:latin typeface="Times New Roman" panose="02020603050405020304" pitchFamily="18" charset="0"/>
                <a:cs typeface="Times New Roman" panose="02020603050405020304" pitchFamily="18" charset="0"/>
              </a:rPr>
              <a:t>database</a:t>
            </a:r>
          </a:p>
          <a:p>
            <a:pPr lvl="1"/>
            <a:r>
              <a:rPr lang="en-US" sz="1800">
                <a:solidFill>
                  <a:schemeClr val="tx1"/>
                </a:solidFill>
                <a:latin typeface="Times New Roman" panose="02020603050405020304" pitchFamily="18" charset="0"/>
                <a:cs typeface="Times New Roman" panose="02020603050405020304" pitchFamily="18" charset="0"/>
              </a:rPr>
              <a:t>Oracle Secure </a:t>
            </a:r>
            <a:r>
              <a:rPr lang="en-US" sz="1800" smtClean="0">
                <a:solidFill>
                  <a:schemeClr val="tx1"/>
                </a:solidFill>
                <a:latin typeface="Times New Roman" panose="02020603050405020304" pitchFamily="18" charset="0"/>
                <a:cs typeface="Times New Roman" panose="02020603050405020304" pitchFamily="18" charset="0"/>
              </a:rPr>
              <a:t>Backup</a:t>
            </a:r>
          </a:p>
          <a:p>
            <a:pPr lvl="1"/>
            <a:r>
              <a:rPr lang="fr-FR" sz="1800">
                <a:solidFill>
                  <a:schemeClr val="tx1"/>
                </a:solidFill>
                <a:latin typeface="Times New Roman" panose="02020603050405020304" pitchFamily="18" charset="0"/>
                <a:cs typeface="Times New Roman" panose="02020603050405020304" pitchFamily="18" charset="0"/>
              </a:rPr>
              <a:t>Oracle Enterprise Manager Cloud Control</a:t>
            </a:r>
            <a:endParaRPr lang="en-US" sz="180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3319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8610600" cy="609600"/>
          </a:xfrm>
        </p:spPr>
        <p:txBody>
          <a:bodyPr>
            <a:normAutofit fontScale="90000"/>
          </a:bodyPr>
          <a:lstStyle/>
          <a:p>
            <a:r>
              <a:rPr lang="en-US" b="1" smtClean="0">
                <a:latin typeface="Times New Roman" panose="02020603050405020304" pitchFamily="18" charset="0"/>
                <a:cs typeface="Times New Roman" panose="02020603050405020304" pitchFamily="18" charset="0"/>
              </a:rPr>
              <a:t>Tính năng </a:t>
            </a:r>
            <a:r>
              <a:rPr lang="en-US" b="1">
                <a:latin typeface="Times New Roman" panose="02020603050405020304" pitchFamily="18" charset="0"/>
                <a:cs typeface="Times New Roman" panose="02020603050405020304" pitchFamily="18" charset="0"/>
              </a:rPr>
              <a:t>Recovery Appliance</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13</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6" name="Content Placeholder 2"/>
          <p:cNvSpPr>
            <a:spLocks noGrp="1"/>
          </p:cNvSpPr>
          <p:nvPr>
            <p:ph idx="1"/>
          </p:nvPr>
        </p:nvSpPr>
        <p:spPr>
          <a:xfrm>
            <a:off x="762000" y="1245521"/>
            <a:ext cx="7162800" cy="5279362"/>
          </a:xfrm>
        </p:spPr>
        <p:txBody>
          <a:bodyPr>
            <a:normAutofit/>
          </a:bodyPr>
          <a:lstStyle/>
          <a:p>
            <a:pPr lvl="1" algn="just"/>
            <a:r>
              <a:rPr lang="en-US" sz="1800">
                <a:solidFill>
                  <a:schemeClr val="tx1"/>
                </a:solidFill>
                <a:latin typeface="Times New Roman" panose="02020603050405020304" pitchFamily="18" charset="0"/>
                <a:cs typeface="Times New Roman" panose="02020603050405020304" pitchFamily="18" charset="0"/>
              </a:rPr>
              <a:t>Eliminate Data Loss </a:t>
            </a:r>
            <a:r>
              <a:rPr lang="en-US" sz="1800" smtClean="0">
                <a:solidFill>
                  <a:schemeClr val="tx1"/>
                </a:solidFill>
                <a:latin typeface="Times New Roman" panose="02020603050405020304" pitchFamily="18" charset="0"/>
                <a:cs typeface="Times New Roman" panose="02020603050405020304" pitchFamily="18" charset="0"/>
              </a:rPr>
              <a:t>(chống </a:t>
            </a:r>
            <a:r>
              <a:rPr lang="en-US" sz="1800">
                <a:solidFill>
                  <a:schemeClr val="tx1"/>
                </a:solidFill>
                <a:latin typeface="Times New Roman" panose="02020603050405020304" pitchFamily="18" charset="0"/>
                <a:cs typeface="Times New Roman" panose="02020603050405020304" pitchFamily="18" charset="0"/>
              </a:rPr>
              <a:t>mất dữ liệu</a:t>
            </a:r>
            <a:r>
              <a:rPr lang="en-US" sz="1800" smtClean="0">
                <a:solidFill>
                  <a:schemeClr val="tx1"/>
                </a:solidFill>
                <a:latin typeface="Times New Roman" panose="02020603050405020304" pitchFamily="18" charset="0"/>
                <a:cs typeface="Times New Roman" panose="02020603050405020304" pitchFamily="18" charset="0"/>
              </a:rPr>
              <a:t>)</a:t>
            </a:r>
          </a:p>
          <a:p>
            <a:pPr lvl="1" algn="just"/>
            <a:r>
              <a:rPr lang="en-US" sz="1800" smtClean="0">
                <a:solidFill>
                  <a:schemeClr val="tx1"/>
                </a:solidFill>
                <a:latin typeface="Times New Roman" panose="02020603050405020304" pitchFamily="18" charset="0"/>
                <a:cs typeface="Times New Roman" panose="02020603050405020304" pitchFamily="18" charset="0"/>
              </a:rPr>
              <a:t>Mã hóa các bản backup dài hạn lưu ở Cloud, ZFS hoặc Tape</a:t>
            </a:r>
            <a:endParaRPr lang="en-US" sz="1800">
              <a:solidFill>
                <a:schemeClr val="tx1"/>
              </a:solidFill>
              <a:latin typeface="Times New Roman" panose="02020603050405020304" pitchFamily="18" charset="0"/>
              <a:cs typeface="Times New Roman" panose="02020603050405020304" pitchFamily="18" charset="0"/>
            </a:endParaRPr>
          </a:p>
          <a:p>
            <a:pPr lvl="1" algn="just"/>
            <a:r>
              <a:rPr lang="en-US" sz="1800">
                <a:solidFill>
                  <a:schemeClr val="tx1"/>
                </a:solidFill>
                <a:latin typeface="Times New Roman" panose="02020603050405020304" pitchFamily="18" charset="0"/>
                <a:cs typeface="Times New Roman" panose="02020603050405020304" pitchFamily="18" charset="0"/>
              </a:rPr>
              <a:t>Minimal Impact Backups (chỉ backup những dữ liệu đã thay đổi)</a:t>
            </a:r>
          </a:p>
          <a:p>
            <a:pPr lvl="1" algn="just"/>
            <a:r>
              <a:rPr lang="en-US" sz="1800" smtClean="0">
                <a:solidFill>
                  <a:schemeClr val="tx1"/>
                </a:solidFill>
                <a:latin typeface="Times New Roman" panose="02020603050405020304" pitchFamily="18" charset="0"/>
                <a:cs typeface="Times New Roman" panose="02020603050405020304" pitchFamily="18" charset="0"/>
              </a:rPr>
              <a:t>Tích hợp với các công nghệ Oracle High Avaiable</a:t>
            </a:r>
          </a:p>
          <a:p>
            <a:pPr lvl="1" algn="just"/>
            <a:r>
              <a:rPr lang="en-US" sz="1800" smtClean="0">
                <a:solidFill>
                  <a:schemeClr val="tx1"/>
                </a:solidFill>
                <a:latin typeface="Times New Roman" panose="02020603050405020304" pitchFamily="18" charset="0"/>
                <a:cs typeface="Times New Roman" panose="02020603050405020304" pitchFamily="18" charset="0"/>
              </a:rPr>
              <a:t>Giảm thời gian restore và recovery</a:t>
            </a:r>
          </a:p>
          <a:p>
            <a:pPr lvl="1" algn="just"/>
            <a:r>
              <a:rPr lang="en-US" sz="1800">
                <a:solidFill>
                  <a:schemeClr val="tx1"/>
                </a:solidFill>
                <a:latin typeface="Times New Roman" panose="02020603050405020304" pitchFamily="18" charset="0"/>
                <a:cs typeface="Times New Roman" panose="02020603050405020304" pitchFamily="18" charset="0"/>
              </a:rPr>
              <a:t>Tối ưu storage requirements</a:t>
            </a:r>
          </a:p>
          <a:p>
            <a:pPr lvl="1" algn="just"/>
            <a:endParaRPr lang="en-AU" altLang="en-US" sz="18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594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8610600" cy="609600"/>
          </a:xfrm>
        </p:spPr>
        <p:txBody>
          <a:bodyPr>
            <a:noAutofit/>
          </a:bodyPr>
          <a:lstStyle/>
          <a:p>
            <a:pPr lvl="1" algn="just"/>
            <a:r>
              <a:rPr lang="en-US" sz="3200" b="1">
                <a:solidFill>
                  <a:srgbClr val="92D050"/>
                </a:solidFill>
                <a:latin typeface="Times New Roman" panose="02020603050405020304" pitchFamily="18" charset="0"/>
                <a:cs typeface="Times New Roman" panose="02020603050405020304" pitchFamily="18" charset="0"/>
              </a:rPr>
              <a:t>Eliminate Data Loss (chống mất dữ liệu)</a:t>
            </a: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14</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6" name="Content Placeholder 2"/>
          <p:cNvSpPr>
            <a:spLocks noGrp="1"/>
          </p:cNvSpPr>
          <p:nvPr>
            <p:ph idx="1"/>
          </p:nvPr>
        </p:nvSpPr>
        <p:spPr>
          <a:xfrm>
            <a:off x="685800" y="989954"/>
            <a:ext cx="7391400" cy="1167940"/>
          </a:xfrm>
        </p:spPr>
        <p:txBody>
          <a:bodyPr>
            <a:noAutofit/>
          </a:bodyPr>
          <a:lstStyle/>
          <a:p>
            <a:pPr lvl="1" algn="just"/>
            <a:r>
              <a:rPr lang="en-US" sz="1800">
                <a:solidFill>
                  <a:schemeClr val="tx1"/>
                </a:solidFill>
                <a:latin typeface="Times New Roman" panose="02020603050405020304" pitchFamily="18" charset="0"/>
                <a:cs typeface="Times New Roman" panose="02020603050405020304" pitchFamily="18" charset="0"/>
              </a:rPr>
              <a:t>Real-Time Redo </a:t>
            </a:r>
            <a:r>
              <a:rPr lang="en-US" sz="1800" smtClean="0">
                <a:solidFill>
                  <a:schemeClr val="tx1"/>
                </a:solidFill>
                <a:latin typeface="Times New Roman" panose="02020603050405020304" pitchFamily="18" charset="0"/>
                <a:cs typeface="Times New Roman" panose="02020603050405020304" pitchFamily="18" charset="0"/>
              </a:rPr>
              <a:t>Transport</a:t>
            </a:r>
          </a:p>
          <a:p>
            <a:pPr lvl="1" algn="just"/>
            <a:r>
              <a:rPr lang="en-US" sz="1800">
                <a:solidFill>
                  <a:schemeClr val="tx1"/>
                </a:solidFill>
                <a:latin typeface="Times New Roman" panose="02020603050405020304" pitchFamily="18" charset="0"/>
                <a:cs typeface="Times New Roman" panose="02020603050405020304" pitchFamily="18" charset="0"/>
              </a:rPr>
              <a:t>Efficient </a:t>
            </a:r>
            <a:r>
              <a:rPr lang="en-US" sz="1800" smtClean="0">
                <a:solidFill>
                  <a:schemeClr val="tx1"/>
                </a:solidFill>
                <a:latin typeface="Times New Roman" panose="02020603050405020304" pitchFamily="18" charset="0"/>
                <a:cs typeface="Times New Roman" panose="02020603050405020304" pitchFamily="18" charset="0"/>
              </a:rPr>
              <a:t>Replication</a:t>
            </a:r>
          </a:p>
          <a:p>
            <a:pPr lvl="1" algn="just"/>
            <a:r>
              <a:rPr lang="en-US" sz="1800">
                <a:solidFill>
                  <a:schemeClr val="tx1"/>
                </a:solidFill>
                <a:latin typeface="Times New Roman" panose="02020603050405020304" pitchFamily="18" charset="0"/>
                <a:cs typeface="Times New Roman" panose="02020603050405020304" pitchFamily="18" charset="0"/>
              </a:rPr>
              <a:t>Protects against data </a:t>
            </a:r>
            <a:r>
              <a:rPr lang="en-US" sz="1800" smtClean="0">
                <a:solidFill>
                  <a:schemeClr val="tx1"/>
                </a:solidFill>
                <a:latin typeface="Times New Roman" panose="02020603050405020304" pitchFamily="18" charset="0"/>
                <a:cs typeface="Times New Roman" panose="02020603050405020304" pitchFamily="18" charset="0"/>
              </a:rPr>
              <a:t>corruption (</a:t>
            </a:r>
            <a:r>
              <a:rPr lang="en-US" sz="1800">
                <a:solidFill>
                  <a:schemeClr val="tx1"/>
                </a:solidFill>
                <a:latin typeface="Times New Roman" panose="02020603050405020304" pitchFamily="18" charset="0"/>
                <a:cs typeface="Times New Roman" panose="02020603050405020304" pitchFamily="18" charset="0"/>
              </a:rPr>
              <a:t>End-to-End Data </a:t>
            </a:r>
            <a:r>
              <a:rPr lang="en-US" sz="1800" smtClean="0">
                <a:solidFill>
                  <a:schemeClr val="tx1"/>
                </a:solidFill>
                <a:latin typeface="Times New Roman" panose="02020603050405020304" pitchFamily="18" charset="0"/>
                <a:cs typeface="Times New Roman" panose="02020603050405020304" pitchFamily="18" charset="0"/>
              </a:rPr>
              <a:t>Validation)</a:t>
            </a:r>
            <a:endParaRPr lang="en-US" sz="1800">
              <a:solidFill>
                <a:schemeClr val="tx1"/>
              </a:solidFill>
              <a:latin typeface="Times New Roman" panose="02020603050405020304" pitchFamily="18" charset="0"/>
              <a:cs typeface="Times New Roman" panose="02020603050405020304" pitchFamily="18" charset="0"/>
            </a:endParaRPr>
          </a:p>
        </p:txBody>
      </p:sp>
      <p:pic>
        <p:nvPicPr>
          <p:cNvPr id="8" name="Picture 7"/>
          <p:cNvPicPr/>
          <p:nvPr/>
        </p:nvPicPr>
        <p:blipFill>
          <a:blip r:embed="rId3"/>
          <a:stretch>
            <a:fillRect/>
          </a:stretch>
        </p:blipFill>
        <p:spPr>
          <a:xfrm>
            <a:off x="1295400" y="2342483"/>
            <a:ext cx="8382000" cy="4164679"/>
          </a:xfrm>
          <a:prstGeom prst="rect">
            <a:avLst/>
          </a:prstGeom>
        </p:spPr>
      </p:pic>
    </p:spTree>
    <p:extLst>
      <p:ext uri="{BB962C8B-B14F-4D97-AF65-F5344CB8AC3E}">
        <p14:creationId xmlns:p14="http://schemas.microsoft.com/office/powerpoint/2010/main" val="7505615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8382000" cy="1371600"/>
          </a:xfrm>
        </p:spPr>
        <p:txBody>
          <a:bodyPr>
            <a:noAutofit/>
          </a:bodyPr>
          <a:lstStyle/>
          <a:p>
            <a:pPr lvl="1" algn="just"/>
            <a:r>
              <a:rPr lang="en-US" sz="3200" b="1">
                <a:solidFill>
                  <a:srgbClr val="92D050"/>
                </a:solidFill>
                <a:latin typeface="Times New Roman" panose="02020603050405020304" pitchFamily="18" charset="0"/>
                <a:cs typeface="Times New Roman" panose="02020603050405020304" pitchFamily="18" charset="0"/>
              </a:rPr>
              <a:t>Mã hóa các bản backup dài hạn lưu ở Cloud, ZFS hoặc Tape</a:t>
            </a: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15</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1371600" y="1524000"/>
            <a:ext cx="8423983" cy="4800600"/>
          </a:xfrm>
          <a:prstGeom prst="rect">
            <a:avLst/>
          </a:prstGeom>
        </p:spPr>
      </p:pic>
    </p:spTree>
    <p:extLst>
      <p:ext uri="{BB962C8B-B14F-4D97-AF65-F5344CB8AC3E}">
        <p14:creationId xmlns:p14="http://schemas.microsoft.com/office/powerpoint/2010/main" val="8808731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8382000" cy="1371600"/>
          </a:xfrm>
        </p:spPr>
        <p:txBody>
          <a:bodyPr>
            <a:noAutofit/>
          </a:bodyPr>
          <a:lstStyle/>
          <a:p>
            <a:pPr lvl="1" algn="just"/>
            <a:r>
              <a:rPr lang="en-US" sz="3200" b="1">
                <a:solidFill>
                  <a:srgbClr val="92D050"/>
                </a:solidFill>
                <a:latin typeface="Times New Roman" panose="02020603050405020304" pitchFamily="18" charset="0"/>
                <a:cs typeface="Times New Roman" panose="02020603050405020304" pitchFamily="18" charset="0"/>
              </a:rPr>
              <a:t>Minimal Impact Backups (chỉ backup những dữ liệu đã thay đổi)</a:t>
            </a: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16</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7" name="Content Placeholder 2"/>
          <p:cNvSpPr>
            <a:spLocks noGrp="1"/>
          </p:cNvSpPr>
          <p:nvPr>
            <p:ph idx="1"/>
          </p:nvPr>
        </p:nvSpPr>
        <p:spPr>
          <a:xfrm>
            <a:off x="609600" y="1371600"/>
            <a:ext cx="7391400" cy="1167940"/>
          </a:xfrm>
        </p:spPr>
        <p:txBody>
          <a:bodyPr>
            <a:noAutofit/>
          </a:bodyPr>
          <a:lstStyle/>
          <a:p>
            <a:pPr lvl="1" algn="just"/>
            <a:r>
              <a:rPr lang="en-US" sz="1800">
                <a:solidFill>
                  <a:schemeClr val="tx1"/>
                </a:solidFill>
                <a:latin typeface="Times New Roman" panose="02020603050405020304" pitchFamily="18" charset="0"/>
                <a:cs typeface="Times New Roman" panose="02020603050405020304" pitchFamily="18" charset="0"/>
              </a:rPr>
              <a:t>Incremental-Forever Backup </a:t>
            </a:r>
            <a:r>
              <a:rPr lang="en-US" sz="1800" smtClean="0">
                <a:solidFill>
                  <a:schemeClr val="tx1"/>
                </a:solidFill>
                <a:latin typeface="Times New Roman" panose="02020603050405020304" pitchFamily="18" charset="0"/>
                <a:cs typeface="Times New Roman" panose="02020603050405020304" pitchFamily="18" charset="0"/>
              </a:rPr>
              <a:t>Architecture</a:t>
            </a:r>
          </a:p>
          <a:p>
            <a:pPr lvl="1" algn="just"/>
            <a:r>
              <a:rPr lang="en-US" sz="1800">
                <a:solidFill>
                  <a:schemeClr val="tx1"/>
                </a:solidFill>
                <a:latin typeface="Times New Roman" panose="02020603050405020304" pitchFamily="18" charset="0"/>
                <a:cs typeface="Times New Roman" panose="02020603050405020304" pitchFamily="18" charset="0"/>
              </a:rPr>
              <a:t>Delta </a:t>
            </a:r>
            <a:r>
              <a:rPr lang="en-US" sz="1800" smtClean="0">
                <a:solidFill>
                  <a:schemeClr val="tx1"/>
                </a:solidFill>
                <a:latin typeface="Times New Roman" panose="02020603050405020304" pitchFamily="18" charset="0"/>
                <a:cs typeface="Times New Roman" panose="02020603050405020304" pitchFamily="18" charset="0"/>
              </a:rPr>
              <a:t>Push</a:t>
            </a:r>
          </a:p>
          <a:p>
            <a:pPr lvl="1" algn="just"/>
            <a:r>
              <a:rPr lang="en-US" sz="1800">
                <a:solidFill>
                  <a:schemeClr val="tx1"/>
                </a:solidFill>
                <a:latin typeface="Times New Roman" panose="02020603050405020304" pitchFamily="18" charset="0"/>
                <a:cs typeface="Times New Roman" panose="02020603050405020304" pitchFamily="18" charset="0"/>
              </a:rPr>
              <a:t>Delta Store</a:t>
            </a:r>
          </a:p>
        </p:txBody>
      </p:sp>
      <p:pic>
        <p:nvPicPr>
          <p:cNvPr id="3" name="Picture 2"/>
          <p:cNvPicPr>
            <a:picLocks noChangeAspect="1"/>
          </p:cNvPicPr>
          <p:nvPr/>
        </p:nvPicPr>
        <p:blipFill>
          <a:blip r:embed="rId3"/>
          <a:stretch>
            <a:fillRect/>
          </a:stretch>
        </p:blipFill>
        <p:spPr>
          <a:xfrm>
            <a:off x="2743200" y="1795462"/>
            <a:ext cx="6944343" cy="4711700"/>
          </a:xfrm>
          <a:prstGeom prst="rect">
            <a:avLst/>
          </a:prstGeom>
        </p:spPr>
      </p:pic>
    </p:spTree>
    <p:extLst>
      <p:ext uri="{BB962C8B-B14F-4D97-AF65-F5344CB8AC3E}">
        <p14:creationId xmlns:p14="http://schemas.microsoft.com/office/powerpoint/2010/main" val="31708861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8610600" cy="609600"/>
          </a:xfrm>
        </p:spPr>
        <p:txBody>
          <a:bodyPr>
            <a:normAutofit fontScale="90000"/>
          </a:bodyPr>
          <a:lstStyle/>
          <a:p>
            <a:r>
              <a:rPr lang="en-US" b="1" smtClean="0">
                <a:latin typeface="Times New Roman" panose="02020603050405020304" pitchFamily="18" charset="0"/>
                <a:cs typeface="Times New Roman" panose="02020603050405020304" pitchFamily="18" charset="0"/>
              </a:rPr>
              <a:t>Tính năng </a:t>
            </a:r>
            <a:r>
              <a:rPr lang="en-US" b="1">
                <a:latin typeface="Times New Roman" panose="02020603050405020304" pitchFamily="18" charset="0"/>
                <a:cs typeface="Times New Roman" panose="02020603050405020304" pitchFamily="18" charset="0"/>
              </a:rPr>
              <a:t>Recovery </a:t>
            </a:r>
            <a:r>
              <a:rPr lang="en-US" b="1" smtClean="0">
                <a:latin typeface="Times New Roman" panose="02020603050405020304" pitchFamily="18" charset="0"/>
                <a:cs typeface="Times New Roman" panose="02020603050405020304" pitchFamily="18" charset="0"/>
              </a:rPr>
              <a:t>Appliance (còn lại)</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17</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6" name="Content Placeholder 2"/>
          <p:cNvSpPr>
            <a:spLocks noGrp="1"/>
          </p:cNvSpPr>
          <p:nvPr>
            <p:ph idx="1"/>
          </p:nvPr>
        </p:nvSpPr>
        <p:spPr>
          <a:xfrm>
            <a:off x="762000" y="1245521"/>
            <a:ext cx="7162800" cy="2412079"/>
          </a:xfrm>
        </p:spPr>
        <p:txBody>
          <a:bodyPr>
            <a:normAutofit/>
          </a:bodyPr>
          <a:lstStyle/>
          <a:p>
            <a:pPr lvl="1" algn="just"/>
            <a:r>
              <a:rPr lang="en-US" sz="1800" smtClean="0">
                <a:solidFill>
                  <a:schemeClr val="tx1"/>
                </a:solidFill>
                <a:latin typeface="Times New Roman" panose="02020603050405020304" pitchFamily="18" charset="0"/>
                <a:cs typeface="Times New Roman" panose="02020603050405020304" pitchFamily="18" charset="0"/>
              </a:rPr>
              <a:t>Tích hợp với các công nghệ Oracle High Avaiable</a:t>
            </a:r>
          </a:p>
          <a:p>
            <a:pPr lvl="1" algn="just"/>
            <a:r>
              <a:rPr lang="en-US" sz="1800" smtClean="0">
                <a:solidFill>
                  <a:schemeClr val="tx1"/>
                </a:solidFill>
                <a:latin typeface="Times New Roman" panose="02020603050405020304" pitchFamily="18" charset="0"/>
                <a:cs typeface="Times New Roman" panose="02020603050405020304" pitchFamily="18" charset="0"/>
              </a:rPr>
              <a:t>Giảm thời gian restore và recovery</a:t>
            </a:r>
          </a:p>
          <a:p>
            <a:pPr lvl="1" algn="just"/>
            <a:r>
              <a:rPr lang="en-US" sz="1800">
                <a:solidFill>
                  <a:schemeClr val="tx1"/>
                </a:solidFill>
                <a:latin typeface="Times New Roman" panose="02020603050405020304" pitchFamily="18" charset="0"/>
                <a:cs typeface="Times New Roman" panose="02020603050405020304" pitchFamily="18" charset="0"/>
              </a:rPr>
              <a:t>Tối ưu storage requirements</a:t>
            </a:r>
          </a:p>
          <a:p>
            <a:pPr lvl="1" algn="just"/>
            <a:endParaRPr lang="en-AU" altLang="en-US" sz="18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1493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52400"/>
            <a:ext cx="8610600" cy="609600"/>
          </a:xfrm>
        </p:spPr>
        <p:txBody>
          <a:bodyPr>
            <a:normAutofit fontScale="90000"/>
          </a:bodyPr>
          <a:lstStyle/>
          <a:p>
            <a:r>
              <a:rPr lang="en-US" b="1" smtClean="0">
                <a:latin typeface="Times New Roman" panose="02020603050405020304" pitchFamily="18" charset="0"/>
                <a:cs typeface="Times New Roman" panose="02020603050405020304" pitchFamily="18" charset="0"/>
              </a:rPr>
              <a:t>Flow backup với Recovery Appliance</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18</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1066800" y="990600"/>
            <a:ext cx="9316750" cy="4925112"/>
          </a:xfrm>
          <a:prstGeom prst="rect">
            <a:avLst/>
          </a:prstGeom>
        </p:spPr>
      </p:pic>
    </p:spTree>
    <p:extLst>
      <p:ext uri="{BB962C8B-B14F-4D97-AF65-F5344CB8AC3E}">
        <p14:creationId xmlns:p14="http://schemas.microsoft.com/office/powerpoint/2010/main" val="22926658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52400"/>
            <a:ext cx="8610600" cy="609600"/>
          </a:xfrm>
        </p:spPr>
        <p:txBody>
          <a:bodyPr>
            <a:normAutofit fontScale="90000"/>
          </a:bodyPr>
          <a:lstStyle/>
          <a:p>
            <a:r>
              <a:rPr lang="en-US" b="1" smtClean="0">
                <a:latin typeface="Times New Roman" panose="02020603050405020304" pitchFamily="18" charset="0"/>
                <a:cs typeface="Times New Roman" panose="02020603050405020304" pitchFamily="18" charset="0"/>
              </a:rPr>
              <a:t>Restore với Recovery Appliance</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19</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6" name="Content Placeholder 2"/>
          <p:cNvSpPr>
            <a:spLocks noGrp="1"/>
          </p:cNvSpPr>
          <p:nvPr>
            <p:ph idx="1"/>
          </p:nvPr>
        </p:nvSpPr>
        <p:spPr>
          <a:xfrm>
            <a:off x="680884" y="867644"/>
            <a:ext cx="8610600" cy="5612479"/>
          </a:xfrm>
        </p:spPr>
        <p:txBody>
          <a:bodyPr>
            <a:noAutofit/>
          </a:bodyPr>
          <a:lstStyle/>
          <a:p>
            <a:pPr algn="just">
              <a:lnSpc>
                <a:spcPct val="170000"/>
              </a:lnSpc>
              <a:buFont typeface="Wingdings" panose="05000000000000000000" pitchFamily="2" charset="2"/>
              <a:buChar char="Ø"/>
            </a:pPr>
            <a:r>
              <a:rPr lang="en-US">
                <a:latin typeface="Times New Roman" panose="02020603050405020304" pitchFamily="18" charset="0"/>
                <a:cs typeface="Times New Roman" panose="02020603050405020304" pitchFamily="18" charset="0"/>
              </a:rPr>
              <a:t>Có thể khôi phục toàn bộ protected database, một hoặc nhiều data file, một hoặc nhiều tablespace. </a:t>
            </a:r>
            <a:endParaRPr lang="en-US" smtClean="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Nếu </a:t>
            </a:r>
            <a:r>
              <a:rPr lang="en-US">
                <a:latin typeface="Times New Roman" panose="02020603050405020304" pitchFamily="18" charset="0"/>
                <a:cs typeface="Times New Roman" panose="02020603050405020304" pitchFamily="18" charset="0"/>
              </a:rPr>
              <a:t>chỉ một số block dữ liệu nhất định trong protected database bị hỏng thì chỉ cần thực hiện khôi phục block để chỉ sửa các block bị hỏng. </a:t>
            </a:r>
            <a:endParaRPr lang="en-US" smtClean="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Quy </a:t>
            </a:r>
            <a:r>
              <a:rPr lang="en-US">
                <a:latin typeface="Times New Roman" panose="02020603050405020304" pitchFamily="18" charset="0"/>
                <a:cs typeface="Times New Roman" panose="02020603050405020304" pitchFamily="18" charset="0"/>
              </a:rPr>
              <a:t>trình khôi phục bằng cách sử dụng Recovery Appliance giống hệt với quy trình được sử dụng để khôi phục cơ sở dữ liệu trong môi trường RMAN thông thường.</a:t>
            </a:r>
          </a:p>
          <a:p>
            <a:pPr algn="just">
              <a:lnSpc>
                <a:spcPct val="170000"/>
              </a:lnSpc>
              <a:buFont typeface="Wingdings" panose="05000000000000000000" pitchFamily="2" charset="2"/>
              <a:buChar char="Ø"/>
            </a:pPr>
            <a:r>
              <a:rPr lang="vi-VN">
                <a:latin typeface="Times New Roman" panose="02020603050405020304" pitchFamily="18" charset="0"/>
                <a:cs typeface="Times New Roman" panose="02020603050405020304" pitchFamily="18" charset="0"/>
              </a:rPr>
              <a:t>Sự khác biệt chính là sử dụng Recovery Appliance làm nguồn dữ liệu khôi phục bằng </a:t>
            </a:r>
            <a:r>
              <a:rPr lang="vi-VN" smtClean="0">
                <a:latin typeface="Times New Roman" panose="02020603050405020304" pitchFamily="18" charset="0"/>
                <a:cs typeface="Times New Roman" panose="02020603050405020304" pitchFamily="18" charset="0"/>
              </a:rPr>
              <a:t>cách </a:t>
            </a:r>
            <a:r>
              <a:rPr lang="vi-VN">
                <a:latin typeface="Times New Roman" panose="02020603050405020304" pitchFamily="18" charset="0"/>
                <a:cs typeface="Times New Roman" panose="02020603050405020304" pitchFamily="18" charset="0"/>
              </a:rPr>
              <a:t>cấu hình hoặc phân bổ kênh RMAN tương ứng với mô-đun </a:t>
            </a:r>
            <a:r>
              <a:rPr lang="en-US" smtClean="0">
                <a:latin typeface="Times New Roman" panose="02020603050405020304" pitchFamily="18" charset="0"/>
                <a:cs typeface="Times New Roman" panose="02020603050405020304" pitchFamily="18" charset="0"/>
              </a:rPr>
              <a:t>backup</a:t>
            </a:r>
            <a:r>
              <a:rPr lang="vi-VN" smtClean="0">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Recovery Appliance</a:t>
            </a:r>
            <a:r>
              <a:rPr lang="vi-VN" smtClean="0">
                <a:latin typeface="Times New Roman" panose="02020603050405020304" pitchFamily="18" charset="0"/>
                <a:cs typeface="Times New Roman" panose="02020603050405020304" pitchFamily="18" charset="0"/>
              </a:rPr>
              <a:t>.</a:t>
            </a:r>
            <a:endParaRPr lang="en-US" smtClean="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Ø"/>
            </a:pPr>
            <a:r>
              <a:rPr lang="en-US" smtClean="0">
                <a:latin typeface="Times New Roman" panose="02020603050405020304" pitchFamily="18" charset="0"/>
                <a:cs typeface="Times New Roman" panose="02020603050405020304" pitchFamily="18" charset="0"/>
              </a:rPr>
              <a:t>Có thể sử dụng Enterprise </a:t>
            </a:r>
            <a:r>
              <a:rPr lang="en-US">
                <a:latin typeface="Times New Roman" panose="02020603050405020304" pitchFamily="18" charset="0"/>
                <a:cs typeface="Times New Roman" panose="02020603050405020304" pitchFamily="18" charset="0"/>
              </a:rPr>
              <a:t>Manager Cloud Control (Cloud Control) </a:t>
            </a:r>
            <a:r>
              <a:rPr lang="en-US" smtClean="0">
                <a:latin typeface="Times New Roman" panose="02020603050405020304" pitchFamily="18" charset="0"/>
                <a:cs typeface="Times New Roman" panose="02020603050405020304" pitchFamily="18" charset="0"/>
              </a:rPr>
              <a:t>hoặc </a:t>
            </a:r>
            <a:r>
              <a:rPr lang="en-US">
                <a:latin typeface="Times New Roman" panose="02020603050405020304" pitchFamily="18" charset="0"/>
                <a:cs typeface="Times New Roman" panose="02020603050405020304" pitchFamily="18" charset="0"/>
              </a:rPr>
              <a:t>RMAN </a:t>
            </a:r>
            <a:r>
              <a:rPr lang="en-US" smtClean="0">
                <a:latin typeface="Times New Roman" panose="02020603050405020304" pitchFamily="18" charset="0"/>
                <a:cs typeface="Times New Roman" panose="02020603050405020304" pitchFamily="18" charset="0"/>
              </a:rPr>
              <a:t>để </a:t>
            </a:r>
            <a:r>
              <a:rPr lang="en-US">
                <a:latin typeface="Times New Roman" panose="02020603050405020304" pitchFamily="18" charset="0"/>
                <a:cs typeface="Times New Roman" panose="02020603050405020304" pitchFamily="18" charset="0"/>
              </a:rPr>
              <a:t>restore </a:t>
            </a:r>
            <a:r>
              <a:rPr lang="en-US" smtClean="0">
                <a:latin typeface="Times New Roman" panose="02020603050405020304" pitchFamily="18" charset="0"/>
                <a:cs typeface="Times New Roman" panose="02020603050405020304" pitchFamily="18" charset="0"/>
              </a:rPr>
              <a:t>và </a:t>
            </a:r>
            <a:r>
              <a:rPr lang="en-US">
                <a:latin typeface="Times New Roman" panose="02020603050405020304" pitchFamily="18" charset="0"/>
                <a:cs typeface="Times New Roman" panose="02020603050405020304" pitchFamily="18" charset="0"/>
              </a:rPr>
              <a:t>recover protected databases.</a:t>
            </a:r>
          </a:p>
        </p:txBody>
      </p:sp>
    </p:spTree>
    <p:extLst>
      <p:ext uri="{BB962C8B-B14F-4D97-AF65-F5344CB8AC3E}">
        <p14:creationId xmlns:p14="http://schemas.microsoft.com/office/powerpoint/2010/main" val="7611012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52400"/>
            <a:ext cx="9987116" cy="762000"/>
          </a:xfrm>
        </p:spPr>
        <p:txBody>
          <a:bodyPr>
            <a:normAutofit fontScale="90000"/>
          </a:bodyPr>
          <a:lstStyle/>
          <a:p>
            <a:r>
              <a:rPr lang="en-US" b="1">
                <a:latin typeface="Times New Roman" panose="02020603050405020304" pitchFamily="18" charset="0"/>
                <a:cs typeface="Times New Roman" panose="02020603050405020304" pitchFamily="18" charset="0"/>
              </a:rPr>
              <a:t>Recovering Protected Databases Using Cloud Control</a:t>
            </a: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20</a:t>
            </a:fld>
            <a:endParaRPr lang="en-US" sz="1800" b="1">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533400" y="1676400"/>
            <a:ext cx="4998712" cy="3048542"/>
          </a:xfrm>
          <a:prstGeom prst="rect">
            <a:avLst/>
          </a:prstGeom>
        </p:spPr>
      </p:pic>
      <p:pic>
        <p:nvPicPr>
          <p:cNvPr id="7" name="Picture 6"/>
          <p:cNvPicPr>
            <a:picLocks noChangeAspect="1"/>
          </p:cNvPicPr>
          <p:nvPr/>
        </p:nvPicPr>
        <p:blipFill>
          <a:blip r:embed="rId4"/>
          <a:stretch>
            <a:fillRect/>
          </a:stretch>
        </p:blipFill>
        <p:spPr>
          <a:xfrm>
            <a:off x="5943600" y="1676400"/>
            <a:ext cx="5565683" cy="2971800"/>
          </a:xfrm>
          <a:prstGeom prst="rect">
            <a:avLst/>
          </a:prstGeom>
        </p:spPr>
      </p:pic>
      <p:sp>
        <p:nvSpPr>
          <p:cNvPr id="9" name="Content Placeholder 2"/>
          <p:cNvSpPr>
            <a:spLocks noGrp="1"/>
          </p:cNvSpPr>
          <p:nvPr>
            <p:ph idx="1"/>
          </p:nvPr>
        </p:nvSpPr>
        <p:spPr>
          <a:xfrm>
            <a:off x="381000" y="914400"/>
            <a:ext cx="8763000" cy="609599"/>
          </a:xfrm>
        </p:spPr>
        <p:txBody>
          <a:bodyPr>
            <a:normAutofit/>
          </a:bodyPr>
          <a:lstStyle/>
          <a:p>
            <a:pPr marL="457200" lvl="1" indent="0" algn="just">
              <a:buNone/>
            </a:pPr>
            <a:r>
              <a:rPr lang="en-US" sz="1800" smtClean="0">
                <a:solidFill>
                  <a:schemeClr val="tx1"/>
                </a:solidFill>
                <a:latin typeface="Times New Roman" panose="02020603050405020304" pitchFamily="18" charset="0"/>
                <a:cs typeface="Times New Roman" panose="02020603050405020304" pitchFamily="18" charset="0"/>
              </a:rPr>
              <a:t>Để thực hiện recovery </a:t>
            </a:r>
            <a:r>
              <a:rPr lang="en-US" sz="1800">
                <a:solidFill>
                  <a:schemeClr val="tx1"/>
                </a:solidFill>
                <a:latin typeface="Times New Roman" panose="02020603050405020304" pitchFamily="18" charset="0"/>
                <a:cs typeface="Times New Roman" panose="02020603050405020304" pitchFamily="18" charset="0"/>
              </a:rPr>
              <a:t>protected </a:t>
            </a:r>
            <a:r>
              <a:rPr lang="en-US" sz="1800" smtClean="0">
                <a:solidFill>
                  <a:schemeClr val="tx1"/>
                </a:solidFill>
                <a:latin typeface="Times New Roman" panose="02020603050405020304" pitchFamily="18" charset="0"/>
                <a:cs typeface="Times New Roman" panose="02020603050405020304" pitchFamily="18" charset="0"/>
              </a:rPr>
              <a:t>database, thực hiện các bước sau trên Cloud Control:</a:t>
            </a:r>
          </a:p>
        </p:txBody>
      </p:sp>
    </p:spTree>
    <p:extLst>
      <p:ext uri="{BB962C8B-B14F-4D97-AF65-F5344CB8AC3E}">
        <p14:creationId xmlns:p14="http://schemas.microsoft.com/office/powerpoint/2010/main" val="36126732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52400"/>
            <a:ext cx="9987116" cy="762000"/>
          </a:xfrm>
        </p:spPr>
        <p:txBody>
          <a:bodyPr>
            <a:normAutofit/>
          </a:bodyPr>
          <a:lstStyle/>
          <a:p>
            <a:r>
              <a:rPr lang="en-US" b="1">
                <a:latin typeface="Times New Roman" panose="02020603050405020304" pitchFamily="18" charset="0"/>
                <a:cs typeface="Times New Roman" panose="02020603050405020304" pitchFamily="18" charset="0"/>
              </a:rPr>
              <a:t>Recovering Protected Databases Using </a:t>
            </a:r>
            <a:r>
              <a:rPr lang="en-US" b="1" smtClean="0">
                <a:latin typeface="Times New Roman" panose="02020603050405020304" pitchFamily="18" charset="0"/>
                <a:cs typeface="Times New Roman" panose="02020603050405020304" pitchFamily="18" charset="0"/>
              </a:rPr>
              <a:t>CLI</a:t>
            </a:r>
            <a:endParaRPr lang="en-US"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21</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9" name="Content Placeholder 2"/>
          <p:cNvSpPr>
            <a:spLocks noGrp="1"/>
          </p:cNvSpPr>
          <p:nvPr>
            <p:ph idx="1"/>
          </p:nvPr>
        </p:nvSpPr>
        <p:spPr>
          <a:xfrm>
            <a:off x="680884" y="1411594"/>
            <a:ext cx="8463116" cy="5105400"/>
          </a:xfrm>
        </p:spPr>
        <p:txBody>
          <a:bodyPr>
            <a:normAutofit/>
          </a:bodyPr>
          <a:lstStyle/>
          <a:p>
            <a:pPr lvl="1" algn="just">
              <a:buFont typeface="Wingdings" panose="05000000000000000000" pitchFamily="2" charset="2"/>
              <a:buChar char="Ø"/>
            </a:pPr>
            <a:r>
              <a:rPr lang="en-US" sz="1800" smtClean="0">
                <a:solidFill>
                  <a:schemeClr val="tx1"/>
                </a:solidFill>
                <a:latin typeface="Times New Roman" panose="02020603050405020304" pitchFamily="18" charset="0"/>
                <a:cs typeface="Times New Roman" panose="02020603050405020304" pitchFamily="18" charset="0"/>
              </a:rPr>
              <a:t>Sử </a:t>
            </a:r>
            <a:r>
              <a:rPr lang="en-US" sz="1800">
                <a:solidFill>
                  <a:schemeClr val="tx1"/>
                </a:solidFill>
                <a:latin typeface="Times New Roman" panose="02020603050405020304" pitchFamily="18" charset="0"/>
                <a:cs typeface="Times New Roman" panose="02020603050405020304" pitchFamily="18" charset="0"/>
              </a:rPr>
              <a:t>dụng RMAN kết nối đến protected database bằng lệnh TARGET và kết nối đến Recovery Appliance bằng lệnh </a:t>
            </a:r>
            <a:r>
              <a:rPr lang="en-US" sz="1800" smtClean="0">
                <a:solidFill>
                  <a:schemeClr val="tx1"/>
                </a:solidFill>
                <a:latin typeface="Times New Roman" panose="02020603050405020304" pitchFamily="18" charset="0"/>
                <a:cs typeface="Times New Roman" panose="02020603050405020304" pitchFamily="18" charset="0"/>
              </a:rPr>
              <a:t>CATALOG:</a:t>
            </a:r>
            <a:endParaRPr lang="en-US" sz="180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a:solidFill>
                  <a:schemeClr val="tx1"/>
                </a:solidFill>
                <a:latin typeface="Times New Roman" panose="02020603050405020304" pitchFamily="18" charset="0"/>
                <a:cs typeface="Times New Roman" panose="02020603050405020304" pitchFamily="18" charset="0"/>
              </a:rPr>
              <a:t>r</a:t>
            </a:r>
            <a:r>
              <a:rPr lang="en-US" sz="1800" smtClean="0">
                <a:solidFill>
                  <a:schemeClr val="tx1"/>
                </a:solidFill>
                <a:latin typeface="Times New Roman" panose="02020603050405020304" pitchFamily="18" charset="0"/>
                <a:cs typeface="Times New Roman" panose="02020603050405020304" pitchFamily="18" charset="0"/>
              </a:rPr>
              <a:t>man</a:t>
            </a:r>
          </a:p>
          <a:p>
            <a:pPr marL="857250" lvl="2" indent="0" algn="just">
              <a:buNone/>
            </a:pPr>
            <a:r>
              <a:rPr lang="en-US" sz="1800">
                <a:solidFill>
                  <a:schemeClr val="tx1"/>
                </a:solidFill>
                <a:latin typeface="Times New Roman" panose="02020603050405020304" pitchFamily="18" charset="0"/>
                <a:cs typeface="Times New Roman" panose="02020603050405020304" pitchFamily="18" charset="0"/>
              </a:rPr>
              <a:t>RMAN&gt; CONNECT TARGET c##bkuser@my_cdb;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RMAN</a:t>
            </a:r>
            <a:r>
              <a:rPr lang="en-US" sz="1800">
                <a:solidFill>
                  <a:schemeClr val="tx1"/>
                </a:solidFill>
                <a:latin typeface="Times New Roman" panose="02020603050405020304" pitchFamily="18" charset="0"/>
                <a:cs typeface="Times New Roman" panose="02020603050405020304" pitchFamily="18" charset="0"/>
              </a:rPr>
              <a:t>&gt; CONNECT CATALOG ra_rman_user@ra1</a:t>
            </a:r>
            <a:r>
              <a:rPr lang="en-US" sz="1800" smtClean="0">
                <a:solidFill>
                  <a:schemeClr val="tx1"/>
                </a:solidFill>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Ø"/>
            </a:pPr>
            <a:r>
              <a:rPr lang="en-US" sz="1800">
                <a:solidFill>
                  <a:schemeClr val="tx1"/>
                </a:solidFill>
                <a:latin typeface="Times New Roman" panose="02020603050405020304" pitchFamily="18" charset="0"/>
                <a:cs typeface="Times New Roman" panose="02020603050405020304" pitchFamily="18" charset="0"/>
              </a:rPr>
              <a:t>Restore and recover all the data </a:t>
            </a:r>
            <a:r>
              <a:rPr lang="en-US" sz="1800" smtClean="0">
                <a:solidFill>
                  <a:schemeClr val="tx1"/>
                </a:solidFill>
                <a:latin typeface="Times New Roman" panose="02020603050405020304" pitchFamily="18" charset="0"/>
                <a:cs typeface="Times New Roman" panose="02020603050405020304" pitchFamily="18" charset="0"/>
              </a:rPr>
              <a:t>files:</a:t>
            </a:r>
          </a:p>
          <a:p>
            <a:pPr marL="857250" lvl="2" indent="0" algn="just">
              <a:buNone/>
            </a:pPr>
            <a:r>
              <a:rPr lang="en-US" sz="1800">
                <a:solidFill>
                  <a:schemeClr val="tx1"/>
                </a:solidFill>
                <a:latin typeface="Times New Roman" panose="02020603050405020304" pitchFamily="18" charset="0"/>
                <a:cs typeface="Times New Roman" panose="02020603050405020304" pitchFamily="18" charset="0"/>
              </a:rPr>
              <a:t>STARTUP MOUNT;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RUN </a:t>
            </a: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 </a:t>
            </a: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RESTORE </a:t>
            </a:r>
            <a:r>
              <a:rPr lang="en-US" sz="1800">
                <a:solidFill>
                  <a:schemeClr val="tx1"/>
                </a:solidFill>
                <a:latin typeface="Times New Roman" panose="02020603050405020304" pitchFamily="18" charset="0"/>
                <a:cs typeface="Times New Roman" panose="02020603050405020304" pitchFamily="18" charset="0"/>
              </a:rPr>
              <a:t>DATABASE;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RECOVER </a:t>
            </a:r>
            <a:r>
              <a:rPr lang="en-US" sz="1800">
                <a:solidFill>
                  <a:schemeClr val="tx1"/>
                </a:solidFill>
                <a:latin typeface="Times New Roman" panose="02020603050405020304" pitchFamily="18" charset="0"/>
                <a:cs typeface="Times New Roman" panose="02020603050405020304" pitchFamily="18" charset="0"/>
              </a:rPr>
              <a:t>DATABASE;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ALTER </a:t>
            </a:r>
            <a:r>
              <a:rPr lang="en-US" sz="1800">
                <a:solidFill>
                  <a:schemeClr val="tx1"/>
                </a:solidFill>
                <a:latin typeface="Times New Roman" panose="02020603050405020304" pitchFamily="18" charset="0"/>
                <a:cs typeface="Times New Roman" panose="02020603050405020304" pitchFamily="18" charset="0"/>
              </a:rPr>
              <a:t>DATABASE OPEN;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 </a:t>
            </a:r>
          </a:p>
        </p:txBody>
      </p:sp>
      <p:sp>
        <p:nvSpPr>
          <p:cNvPr id="8" name="Content Placeholder 2"/>
          <p:cNvSpPr txBox="1">
            <a:spLocks/>
          </p:cNvSpPr>
          <p:nvPr/>
        </p:nvSpPr>
        <p:spPr>
          <a:xfrm>
            <a:off x="381000" y="784455"/>
            <a:ext cx="8463116" cy="37854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lvl="1" indent="0" algn="just">
              <a:buFont typeface="Wingdings 3" charset="2"/>
              <a:buNone/>
            </a:pPr>
            <a:r>
              <a:rPr lang="en-US" sz="1800" smtClean="0">
                <a:solidFill>
                  <a:schemeClr val="tx1"/>
                </a:solidFill>
                <a:latin typeface="Times New Roman" panose="02020603050405020304" pitchFamily="18" charset="0"/>
                <a:cs typeface="Times New Roman" panose="02020603050405020304" pitchFamily="18" charset="0"/>
              </a:rPr>
              <a:t>Ví dụ: Restoring và Recovering toàn bộ Database với Control File hiện tại có sẵn</a:t>
            </a:r>
          </a:p>
        </p:txBody>
      </p:sp>
    </p:spTree>
    <p:extLst>
      <p:ext uri="{BB962C8B-B14F-4D97-AF65-F5344CB8AC3E}">
        <p14:creationId xmlns:p14="http://schemas.microsoft.com/office/powerpoint/2010/main" val="18166734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52400"/>
            <a:ext cx="9987116" cy="762000"/>
          </a:xfrm>
        </p:spPr>
        <p:txBody>
          <a:bodyPr>
            <a:normAutofit/>
          </a:bodyPr>
          <a:lstStyle/>
          <a:p>
            <a:r>
              <a:rPr lang="en-US" b="1">
                <a:latin typeface="Times New Roman" panose="02020603050405020304" pitchFamily="18" charset="0"/>
                <a:cs typeface="Times New Roman" panose="02020603050405020304" pitchFamily="18" charset="0"/>
              </a:rPr>
              <a:t>Recovering Protected Databases Using </a:t>
            </a:r>
            <a:r>
              <a:rPr lang="en-US" b="1" smtClean="0">
                <a:latin typeface="Times New Roman" panose="02020603050405020304" pitchFamily="18" charset="0"/>
                <a:cs typeface="Times New Roman" panose="02020603050405020304" pitchFamily="18" charset="0"/>
              </a:rPr>
              <a:t>CLI</a:t>
            </a:r>
            <a:endParaRPr lang="en-US"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22</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9" name="Content Placeholder 2"/>
          <p:cNvSpPr>
            <a:spLocks noGrp="1"/>
          </p:cNvSpPr>
          <p:nvPr>
            <p:ph idx="1"/>
          </p:nvPr>
        </p:nvSpPr>
        <p:spPr>
          <a:xfrm>
            <a:off x="680884" y="1401762"/>
            <a:ext cx="8463116" cy="5105400"/>
          </a:xfrm>
        </p:spPr>
        <p:txBody>
          <a:bodyPr>
            <a:normAutofit/>
          </a:bodyPr>
          <a:lstStyle/>
          <a:p>
            <a:r>
              <a:rPr lang="en-US">
                <a:solidFill>
                  <a:schemeClr val="tx1"/>
                </a:solidFill>
                <a:latin typeface="Times New Roman" panose="02020603050405020304" pitchFamily="18" charset="0"/>
                <a:cs typeface="Times New Roman" panose="02020603050405020304" pitchFamily="18" charset="0"/>
              </a:rPr>
              <a:t>Sử dụng RMAN kết nối đến protected database bằng lệnh TARGET và kết nối đến Recovery Appliance bằng lệnh CATALOG:</a:t>
            </a:r>
          </a:p>
          <a:p>
            <a:pPr marL="857250" lvl="2" indent="0" algn="just">
              <a:buNone/>
            </a:pPr>
            <a:r>
              <a:rPr lang="en-US" sz="1800">
                <a:solidFill>
                  <a:schemeClr val="tx1"/>
                </a:solidFill>
                <a:latin typeface="Times New Roman" panose="02020603050405020304" pitchFamily="18" charset="0"/>
                <a:cs typeface="Times New Roman" panose="02020603050405020304" pitchFamily="18" charset="0"/>
              </a:rPr>
              <a:t>r</a:t>
            </a:r>
            <a:r>
              <a:rPr lang="en-US" sz="1800" smtClean="0">
                <a:solidFill>
                  <a:schemeClr val="tx1"/>
                </a:solidFill>
                <a:latin typeface="Times New Roman" panose="02020603050405020304" pitchFamily="18" charset="0"/>
                <a:cs typeface="Times New Roman" panose="02020603050405020304" pitchFamily="18" charset="0"/>
              </a:rPr>
              <a:t>man</a:t>
            </a:r>
          </a:p>
          <a:p>
            <a:pPr marL="857250" lvl="2" indent="0" algn="just">
              <a:buNone/>
            </a:pPr>
            <a:r>
              <a:rPr lang="en-US" sz="1800">
                <a:solidFill>
                  <a:schemeClr val="tx1"/>
                </a:solidFill>
                <a:latin typeface="Times New Roman" panose="02020603050405020304" pitchFamily="18" charset="0"/>
                <a:cs typeface="Times New Roman" panose="02020603050405020304" pitchFamily="18" charset="0"/>
              </a:rPr>
              <a:t>RMAN&gt; CONNECT TARGET c##bkuser@my_cdb;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RMAN</a:t>
            </a:r>
            <a:r>
              <a:rPr lang="en-US" sz="1800">
                <a:solidFill>
                  <a:schemeClr val="tx1"/>
                </a:solidFill>
                <a:latin typeface="Times New Roman" panose="02020603050405020304" pitchFamily="18" charset="0"/>
                <a:cs typeface="Times New Roman" panose="02020603050405020304" pitchFamily="18" charset="0"/>
              </a:rPr>
              <a:t>&gt; CONNECT CATALOG ra_rman_user@ra1</a:t>
            </a:r>
            <a:r>
              <a:rPr lang="en-US" sz="1800" smtClean="0">
                <a:solidFill>
                  <a:schemeClr val="tx1"/>
                </a:solidFill>
                <a:latin typeface="Times New Roman" panose="02020603050405020304" pitchFamily="18" charset="0"/>
                <a:cs typeface="Times New Roman" panose="02020603050405020304" pitchFamily="18" charset="0"/>
              </a:rPr>
              <a:t>;</a:t>
            </a:r>
          </a:p>
          <a:p>
            <a:pPr lvl="0"/>
            <a:r>
              <a:rPr lang="en-US">
                <a:solidFill>
                  <a:schemeClr val="tx1"/>
                </a:solidFill>
                <a:latin typeface="Times New Roman" panose="02020603050405020304" pitchFamily="18" charset="0"/>
                <a:cs typeface="Times New Roman" panose="02020603050405020304" pitchFamily="18" charset="0"/>
              </a:rPr>
              <a:t>Xác định Point-in-Time mà protected database phải được khôi phục. Có thể sử dụng </a:t>
            </a:r>
            <a:r>
              <a:rPr lang="en-US" smtClean="0">
                <a:solidFill>
                  <a:schemeClr val="tx1"/>
                </a:solidFill>
                <a:latin typeface="Times New Roman" panose="02020603050405020304" pitchFamily="18" charset="0"/>
                <a:cs typeface="Times New Roman" panose="02020603050405020304" pitchFamily="18" charset="0"/>
              </a:rPr>
              <a:t>SCN (system change number), </a:t>
            </a:r>
            <a:r>
              <a:rPr lang="en-US">
                <a:solidFill>
                  <a:schemeClr val="tx1"/>
                </a:solidFill>
                <a:latin typeface="Times New Roman" panose="02020603050405020304" pitchFamily="18" charset="0"/>
                <a:cs typeface="Times New Roman" panose="02020603050405020304" pitchFamily="18" charset="0"/>
              </a:rPr>
              <a:t>thời gian hoặc log sequence number để chỉ định </a:t>
            </a:r>
            <a:r>
              <a:rPr lang="en-US" smtClean="0">
                <a:solidFill>
                  <a:schemeClr val="tx1"/>
                </a:solidFill>
                <a:latin typeface="Times New Roman" panose="02020603050405020304" pitchFamily="18" charset="0"/>
                <a:cs typeface="Times New Roman" panose="02020603050405020304" pitchFamily="18" charset="0"/>
              </a:rPr>
              <a:t>Point-in-Time</a:t>
            </a:r>
          </a:p>
          <a:p>
            <a:pPr lvl="0"/>
            <a:r>
              <a:rPr lang="en-US">
                <a:solidFill>
                  <a:schemeClr val="tx1"/>
                </a:solidFill>
                <a:latin typeface="Times New Roman" panose="02020603050405020304" pitchFamily="18" charset="0"/>
                <a:cs typeface="Times New Roman" panose="02020603050405020304" pitchFamily="18" charset="0"/>
              </a:rPr>
              <a:t>Use the following query to translate between timestamp and SCN</a:t>
            </a:r>
            <a:r>
              <a:rPr lang="en-US" smtClean="0">
                <a:solidFill>
                  <a:schemeClr val="tx1"/>
                </a:solidFill>
                <a:latin typeface="Times New Roman" panose="02020603050405020304" pitchFamily="18" charset="0"/>
                <a:cs typeface="Times New Roman" panose="02020603050405020304" pitchFamily="18" charset="0"/>
              </a:rPr>
              <a:t>:</a:t>
            </a:r>
          </a:p>
          <a:p>
            <a:pPr marL="0" lvl="0" indent="0">
              <a:buNone/>
            </a:pPr>
            <a:endParaRPr lang="en-US" smtClean="0">
              <a:solidFill>
                <a:schemeClr val="tx1"/>
              </a:solidFill>
              <a:latin typeface="Times New Roman" panose="02020603050405020304" pitchFamily="18" charset="0"/>
              <a:cs typeface="Times New Roman" panose="02020603050405020304" pitchFamily="18" charset="0"/>
            </a:endParaRPr>
          </a:p>
          <a:p>
            <a:pPr lvl="0"/>
            <a:endParaRPr lang="en-US" sz="1400">
              <a:solidFill>
                <a:schemeClr val="tx1"/>
              </a:solidFill>
              <a:latin typeface="Times New Roman" panose="02020603050405020304" pitchFamily="18" charset="0"/>
              <a:cs typeface="Times New Roman" panose="02020603050405020304" pitchFamily="18" charset="0"/>
            </a:endParaRPr>
          </a:p>
        </p:txBody>
      </p:sp>
      <p:sp>
        <p:nvSpPr>
          <p:cNvPr id="8" name="Content Placeholder 2"/>
          <p:cNvSpPr txBox="1">
            <a:spLocks/>
          </p:cNvSpPr>
          <p:nvPr/>
        </p:nvSpPr>
        <p:spPr>
          <a:xfrm>
            <a:off x="381000" y="784455"/>
            <a:ext cx="8463116" cy="37854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lvl="1" indent="0" algn="just">
              <a:buFont typeface="Wingdings 3" charset="2"/>
              <a:buNone/>
            </a:pPr>
            <a:r>
              <a:rPr lang="en-US" sz="1800" smtClean="0">
                <a:solidFill>
                  <a:schemeClr val="tx1"/>
                </a:solidFill>
                <a:latin typeface="Times New Roman" panose="02020603050405020304" pitchFamily="18" charset="0"/>
                <a:cs typeface="Times New Roman" panose="02020603050405020304" pitchFamily="18" charset="0"/>
              </a:rPr>
              <a:t>Ví dụ: Restoring và Recovering toàn bộ Database tới 1 Point-in-time</a:t>
            </a:r>
          </a:p>
        </p:txBody>
      </p:sp>
      <p:pic>
        <p:nvPicPr>
          <p:cNvPr id="3" name="Picture 2"/>
          <p:cNvPicPr>
            <a:picLocks noChangeAspect="1"/>
          </p:cNvPicPr>
          <p:nvPr/>
        </p:nvPicPr>
        <p:blipFill>
          <a:blip r:embed="rId3"/>
          <a:stretch>
            <a:fillRect/>
          </a:stretch>
        </p:blipFill>
        <p:spPr>
          <a:xfrm>
            <a:off x="1676400" y="4800600"/>
            <a:ext cx="6193971" cy="1524000"/>
          </a:xfrm>
          <a:prstGeom prst="rect">
            <a:avLst/>
          </a:prstGeom>
        </p:spPr>
      </p:pic>
    </p:spTree>
    <p:extLst>
      <p:ext uri="{BB962C8B-B14F-4D97-AF65-F5344CB8AC3E}">
        <p14:creationId xmlns:p14="http://schemas.microsoft.com/office/powerpoint/2010/main" val="935013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52400"/>
            <a:ext cx="9987116" cy="762000"/>
          </a:xfrm>
        </p:spPr>
        <p:txBody>
          <a:bodyPr>
            <a:normAutofit/>
          </a:bodyPr>
          <a:lstStyle/>
          <a:p>
            <a:r>
              <a:rPr lang="en-US" b="1">
                <a:latin typeface="Times New Roman" panose="02020603050405020304" pitchFamily="18" charset="0"/>
                <a:cs typeface="Times New Roman" panose="02020603050405020304" pitchFamily="18" charset="0"/>
              </a:rPr>
              <a:t>Recovering Protected Databases Using </a:t>
            </a:r>
            <a:r>
              <a:rPr lang="en-US" b="1" smtClean="0">
                <a:latin typeface="Times New Roman" panose="02020603050405020304" pitchFamily="18" charset="0"/>
                <a:cs typeface="Times New Roman" panose="02020603050405020304" pitchFamily="18" charset="0"/>
              </a:rPr>
              <a:t>CLI</a:t>
            </a:r>
            <a:endParaRPr lang="en-US"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23</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9" name="Content Placeholder 2"/>
          <p:cNvSpPr>
            <a:spLocks noGrp="1"/>
          </p:cNvSpPr>
          <p:nvPr>
            <p:ph idx="1"/>
          </p:nvPr>
        </p:nvSpPr>
        <p:spPr>
          <a:xfrm>
            <a:off x="680884" y="1401762"/>
            <a:ext cx="8463116" cy="5105400"/>
          </a:xfrm>
        </p:spPr>
        <p:txBody>
          <a:bodyPr>
            <a:normAutofit/>
          </a:bodyPr>
          <a:lstStyle/>
          <a:p>
            <a:r>
              <a:rPr lang="en-US" smtClean="0">
                <a:solidFill>
                  <a:schemeClr val="tx1"/>
                </a:solidFill>
                <a:latin typeface="Times New Roman" panose="02020603050405020304" pitchFamily="18" charset="0"/>
                <a:cs typeface="Times New Roman" panose="02020603050405020304" pitchFamily="18" charset="0"/>
              </a:rPr>
              <a:t>Nếu protected </a:t>
            </a:r>
            <a:r>
              <a:rPr lang="en-US">
                <a:solidFill>
                  <a:schemeClr val="tx1"/>
                </a:solidFill>
                <a:latin typeface="Times New Roman" panose="02020603050405020304" pitchFamily="18" charset="0"/>
                <a:cs typeface="Times New Roman" panose="02020603050405020304" pitchFamily="18" charset="0"/>
              </a:rPr>
              <a:t>database </a:t>
            </a:r>
            <a:r>
              <a:rPr lang="en-US" smtClean="0">
                <a:solidFill>
                  <a:schemeClr val="tx1"/>
                </a:solidFill>
                <a:latin typeface="Times New Roman" panose="02020603050405020304" pitchFamily="18" charset="0"/>
                <a:cs typeface="Times New Roman" panose="02020603050405020304" pitchFamily="18" charset="0"/>
              </a:rPr>
              <a:t>không available</a:t>
            </a:r>
            <a:r>
              <a:rPr lang="en-US">
                <a:solidFill>
                  <a:schemeClr val="tx1"/>
                </a:solidFill>
                <a:latin typeface="Times New Roman" panose="02020603050405020304" pitchFamily="18" charset="0"/>
                <a:cs typeface="Times New Roman" panose="02020603050405020304" pitchFamily="18" charset="0"/>
              </a:rPr>
              <a:t>, </a:t>
            </a:r>
            <a:r>
              <a:rPr lang="en-US" smtClean="0">
                <a:solidFill>
                  <a:schemeClr val="tx1"/>
                </a:solidFill>
                <a:latin typeface="Times New Roman" panose="02020603050405020304" pitchFamily="18" charset="0"/>
                <a:cs typeface="Times New Roman" panose="02020603050405020304" pitchFamily="18" charset="0"/>
              </a:rPr>
              <a:t>có thể </a:t>
            </a:r>
            <a:r>
              <a:rPr lang="en-US">
                <a:solidFill>
                  <a:schemeClr val="tx1"/>
                </a:solidFill>
                <a:latin typeface="Times New Roman" panose="02020603050405020304" pitchFamily="18" charset="0"/>
                <a:cs typeface="Times New Roman" panose="02020603050405020304" pitchFamily="18" charset="0"/>
              </a:rPr>
              <a:t>query </a:t>
            </a:r>
            <a:r>
              <a:rPr lang="en-US" smtClean="0">
                <a:solidFill>
                  <a:schemeClr val="tx1"/>
                </a:solidFill>
                <a:latin typeface="Times New Roman" panose="02020603050405020304" pitchFamily="18" charset="0"/>
                <a:cs typeface="Times New Roman" panose="02020603050405020304" pitchFamily="18" charset="0"/>
              </a:rPr>
              <a:t>đến </a:t>
            </a:r>
            <a:r>
              <a:rPr lang="en-US">
                <a:solidFill>
                  <a:schemeClr val="tx1"/>
                </a:solidFill>
                <a:latin typeface="Times New Roman" panose="02020603050405020304" pitchFamily="18" charset="0"/>
                <a:cs typeface="Times New Roman" panose="02020603050405020304" pitchFamily="18" charset="0"/>
              </a:rPr>
              <a:t>Recovery Appliance catalog views </a:t>
            </a:r>
            <a:r>
              <a:rPr lang="en-US" smtClean="0">
                <a:solidFill>
                  <a:schemeClr val="tx1"/>
                </a:solidFill>
                <a:latin typeface="Times New Roman" panose="02020603050405020304" pitchFamily="18" charset="0"/>
                <a:cs typeface="Times New Roman" panose="02020603050405020304" pitchFamily="18" charset="0"/>
              </a:rPr>
              <a:t>để lấy SCN </a:t>
            </a:r>
            <a:r>
              <a:rPr lang="en-US">
                <a:solidFill>
                  <a:schemeClr val="tx1"/>
                </a:solidFill>
                <a:latin typeface="Times New Roman" panose="02020603050405020304" pitchFamily="18" charset="0"/>
                <a:cs typeface="Times New Roman" panose="02020603050405020304" pitchFamily="18" charset="0"/>
              </a:rPr>
              <a:t>number. </a:t>
            </a:r>
            <a:endParaRPr lang="en-US" smtClean="0">
              <a:solidFill>
                <a:schemeClr val="tx1"/>
              </a:solidFill>
              <a:latin typeface="Times New Roman" panose="02020603050405020304" pitchFamily="18" charset="0"/>
              <a:cs typeface="Times New Roman" panose="02020603050405020304" pitchFamily="18" charset="0"/>
            </a:endParaRPr>
          </a:p>
          <a:p>
            <a:r>
              <a:rPr lang="en-US" smtClean="0">
                <a:solidFill>
                  <a:schemeClr val="tx1"/>
                </a:solidFill>
                <a:latin typeface="Times New Roman" panose="02020603050405020304" pitchFamily="18" charset="0"/>
                <a:cs typeface="Times New Roman" panose="02020603050405020304" pitchFamily="18" charset="0"/>
              </a:rPr>
              <a:t>Phải cung cấp date </a:t>
            </a:r>
            <a:r>
              <a:rPr lang="en-US">
                <a:solidFill>
                  <a:schemeClr val="tx1"/>
                </a:solidFill>
                <a:latin typeface="Times New Roman" panose="02020603050405020304" pitchFamily="18" charset="0"/>
                <a:cs typeface="Times New Roman" panose="02020603050405020304" pitchFamily="18" charset="0"/>
              </a:rPr>
              <a:t>and time </a:t>
            </a:r>
            <a:r>
              <a:rPr lang="en-US" smtClean="0">
                <a:solidFill>
                  <a:schemeClr val="tx1"/>
                </a:solidFill>
                <a:latin typeface="Times New Roman" panose="02020603050405020304" pitchFamily="18" charset="0"/>
                <a:cs typeface="Times New Roman" panose="02020603050405020304" pitchFamily="18" charset="0"/>
              </a:rPr>
              <a:t>cho recovery </a:t>
            </a:r>
            <a:r>
              <a:rPr lang="en-US">
                <a:solidFill>
                  <a:schemeClr val="tx1"/>
                </a:solidFill>
                <a:latin typeface="Times New Roman" panose="02020603050405020304" pitchFamily="18" charset="0"/>
                <a:cs typeface="Times New Roman" panose="02020603050405020304" pitchFamily="18" charset="0"/>
              </a:rPr>
              <a:t>window </a:t>
            </a:r>
            <a:r>
              <a:rPr lang="en-US" smtClean="0">
                <a:solidFill>
                  <a:schemeClr val="tx1"/>
                </a:solidFill>
                <a:latin typeface="Times New Roman" panose="02020603050405020304" pitchFamily="18" charset="0"/>
                <a:cs typeface="Times New Roman" panose="02020603050405020304" pitchFamily="18" charset="0"/>
              </a:rPr>
              <a:t>và </a:t>
            </a:r>
            <a:r>
              <a:rPr lang="en-US" b="1" smtClean="0">
                <a:solidFill>
                  <a:schemeClr val="tx1"/>
                </a:solidFill>
                <a:latin typeface="Times New Roman" panose="02020603050405020304" pitchFamily="18" charset="0"/>
                <a:cs typeface="Times New Roman" panose="02020603050405020304" pitchFamily="18" charset="0"/>
              </a:rPr>
              <a:t>db_unique_name</a:t>
            </a:r>
            <a:r>
              <a:rPr lang="en-US" smtClean="0">
                <a:solidFill>
                  <a:schemeClr val="tx1"/>
                </a:solidFill>
                <a:latin typeface="Times New Roman" panose="02020603050405020304" pitchFamily="18" charset="0"/>
                <a:cs typeface="Times New Roman" panose="02020603050405020304" pitchFamily="18" charset="0"/>
              </a:rPr>
              <a:t> của protected </a:t>
            </a:r>
            <a:r>
              <a:rPr lang="en-US">
                <a:solidFill>
                  <a:schemeClr val="tx1"/>
                </a:solidFill>
                <a:latin typeface="Times New Roman" panose="02020603050405020304" pitchFamily="18" charset="0"/>
                <a:cs typeface="Times New Roman" panose="02020603050405020304" pitchFamily="18" charset="0"/>
              </a:rPr>
              <a:t>database</a:t>
            </a:r>
            <a:r>
              <a:rPr lang="en-US" smtClean="0">
                <a:solidFill>
                  <a:schemeClr val="tx1"/>
                </a:solidFill>
                <a:latin typeface="Times New Roman" panose="02020603050405020304" pitchFamily="18" charset="0"/>
                <a:cs typeface="Times New Roman" panose="02020603050405020304" pitchFamily="18" charset="0"/>
              </a:rPr>
              <a:t>.</a:t>
            </a:r>
          </a:p>
          <a:p>
            <a:pPr lvl="0"/>
            <a:endParaRPr lang="en-US" sz="1400">
              <a:solidFill>
                <a:schemeClr val="tx1"/>
              </a:solidFill>
              <a:latin typeface="Times New Roman" panose="02020603050405020304" pitchFamily="18" charset="0"/>
              <a:cs typeface="Times New Roman" panose="02020603050405020304" pitchFamily="18" charset="0"/>
            </a:endParaRPr>
          </a:p>
        </p:txBody>
      </p:sp>
      <p:sp>
        <p:nvSpPr>
          <p:cNvPr id="8" name="Content Placeholder 2"/>
          <p:cNvSpPr txBox="1">
            <a:spLocks/>
          </p:cNvSpPr>
          <p:nvPr/>
        </p:nvSpPr>
        <p:spPr>
          <a:xfrm>
            <a:off x="381000" y="784455"/>
            <a:ext cx="8463116" cy="37854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lvl="1" indent="0" algn="just">
              <a:buFont typeface="Wingdings 3" charset="2"/>
              <a:buNone/>
            </a:pPr>
            <a:r>
              <a:rPr lang="en-US" sz="1800" smtClean="0">
                <a:solidFill>
                  <a:schemeClr val="tx1"/>
                </a:solidFill>
                <a:latin typeface="Times New Roman" panose="02020603050405020304" pitchFamily="18" charset="0"/>
                <a:cs typeface="Times New Roman" panose="02020603050405020304" pitchFamily="18" charset="0"/>
              </a:rPr>
              <a:t>Ví dụ: Restoring và Recovering toàn bộ Database tới 1 Point-in-time</a:t>
            </a:r>
          </a:p>
        </p:txBody>
      </p:sp>
      <p:pic>
        <p:nvPicPr>
          <p:cNvPr id="4" name="Picture 3"/>
          <p:cNvPicPr>
            <a:picLocks noChangeAspect="1"/>
          </p:cNvPicPr>
          <p:nvPr/>
        </p:nvPicPr>
        <p:blipFill>
          <a:blip r:embed="rId3"/>
          <a:stretch>
            <a:fillRect/>
          </a:stretch>
        </p:blipFill>
        <p:spPr>
          <a:xfrm>
            <a:off x="1496771" y="2944761"/>
            <a:ext cx="7362093" cy="3352800"/>
          </a:xfrm>
          <a:prstGeom prst="rect">
            <a:avLst/>
          </a:prstGeom>
        </p:spPr>
      </p:pic>
    </p:spTree>
    <p:extLst>
      <p:ext uri="{BB962C8B-B14F-4D97-AF65-F5344CB8AC3E}">
        <p14:creationId xmlns:p14="http://schemas.microsoft.com/office/powerpoint/2010/main" val="37201446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52400"/>
            <a:ext cx="9987116" cy="762000"/>
          </a:xfrm>
        </p:spPr>
        <p:txBody>
          <a:bodyPr>
            <a:normAutofit/>
          </a:bodyPr>
          <a:lstStyle/>
          <a:p>
            <a:r>
              <a:rPr lang="en-US" b="1">
                <a:latin typeface="Times New Roman" panose="02020603050405020304" pitchFamily="18" charset="0"/>
                <a:cs typeface="Times New Roman" panose="02020603050405020304" pitchFamily="18" charset="0"/>
              </a:rPr>
              <a:t>Recovering Protected Databases Using </a:t>
            </a:r>
            <a:r>
              <a:rPr lang="en-US" b="1" smtClean="0">
                <a:latin typeface="Times New Roman" panose="02020603050405020304" pitchFamily="18" charset="0"/>
                <a:cs typeface="Times New Roman" panose="02020603050405020304" pitchFamily="18" charset="0"/>
              </a:rPr>
              <a:t>CLI</a:t>
            </a:r>
            <a:endParaRPr lang="en-US"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24</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9" name="Content Placeholder 2"/>
          <p:cNvSpPr>
            <a:spLocks noGrp="1"/>
          </p:cNvSpPr>
          <p:nvPr>
            <p:ph idx="1"/>
          </p:nvPr>
        </p:nvSpPr>
        <p:spPr>
          <a:xfrm>
            <a:off x="680884" y="1401762"/>
            <a:ext cx="8463116" cy="5105400"/>
          </a:xfrm>
        </p:spPr>
        <p:txBody>
          <a:bodyPr>
            <a:normAutofit/>
          </a:bodyPr>
          <a:lstStyle/>
          <a:p>
            <a:r>
              <a:rPr lang="en-US">
                <a:solidFill>
                  <a:schemeClr val="tx1"/>
                </a:solidFill>
                <a:latin typeface="Times New Roman" panose="02020603050405020304" pitchFamily="18" charset="0"/>
                <a:cs typeface="Times New Roman" panose="02020603050405020304" pitchFamily="18" charset="0"/>
              </a:rPr>
              <a:t>Restore and recover the control file and the protected database</a:t>
            </a:r>
            <a:r>
              <a:rPr lang="en-US" smtClean="0">
                <a:solidFill>
                  <a:schemeClr val="tx1"/>
                </a:solidFill>
                <a:latin typeface="Times New Roman" panose="02020603050405020304" pitchFamily="18" charset="0"/>
                <a:cs typeface="Times New Roman" panose="02020603050405020304" pitchFamily="18" charset="0"/>
              </a:rPr>
              <a:t>.</a:t>
            </a:r>
          </a:p>
          <a:p>
            <a:pPr marL="400050" lvl="1" indent="0">
              <a:buNone/>
            </a:pPr>
            <a:r>
              <a:rPr lang="en-US" sz="1800">
                <a:solidFill>
                  <a:schemeClr val="tx1"/>
                </a:solidFill>
                <a:latin typeface="Times New Roman" panose="02020603050405020304" pitchFamily="18" charset="0"/>
                <a:cs typeface="Times New Roman" panose="02020603050405020304" pitchFamily="18" charset="0"/>
              </a:rPr>
              <a:t>STARTUP NOMOUNT; </a:t>
            </a:r>
            <a:endParaRPr lang="en-US" sz="1800" smtClean="0">
              <a:solidFill>
                <a:schemeClr val="tx1"/>
              </a:solidFill>
              <a:latin typeface="Times New Roman" panose="02020603050405020304" pitchFamily="18" charset="0"/>
              <a:cs typeface="Times New Roman" panose="02020603050405020304" pitchFamily="18" charset="0"/>
            </a:endParaRP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RUN </a:t>
            </a: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 </a:t>
            </a: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SET </a:t>
            </a:r>
            <a:r>
              <a:rPr lang="en-US" sz="1800">
                <a:solidFill>
                  <a:schemeClr val="tx1"/>
                </a:solidFill>
                <a:latin typeface="Times New Roman" panose="02020603050405020304" pitchFamily="18" charset="0"/>
                <a:cs typeface="Times New Roman" panose="02020603050405020304" pitchFamily="18" charset="0"/>
              </a:rPr>
              <a:t>UNTIL TIME "TO_DATE('2014-14-07:17:27:49','yyyy-dd-mm:hh24:mi:ss')"; </a:t>
            </a:r>
            <a:endParaRPr lang="en-US" sz="1800" smtClean="0">
              <a:solidFill>
                <a:schemeClr val="tx1"/>
              </a:solidFill>
              <a:latin typeface="Times New Roman" panose="02020603050405020304" pitchFamily="18" charset="0"/>
              <a:cs typeface="Times New Roman" panose="02020603050405020304" pitchFamily="18" charset="0"/>
            </a:endParaRP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RESTORE </a:t>
            </a:r>
            <a:r>
              <a:rPr lang="en-US" sz="1800">
                <a:solidFill>
                  <a:schemeClr val="tx1"/>
                </a:solidFill>
                <a:latin typeface="Times New Roman" panose="02020603050405020304" pitchFamily="18" charset="0"/>
                <a:cs typeface="Times New Roman" panose="02020603050405020304" pitchFamily="18" charset="0"/>
              </a:rPr>
              <a:t>CONTROLFILE; </a:t>
            </a:r>
            <a:endParaRPr lang="en-US" sz="1800" smtClean="0">
              <a:solidFill>
                <a:schemeClr val="tx1"/>
              </a:solidFill>
              <a:latin typeface="Times New Roman" panose="02020603050405020304" pitchFamily="18" charset="0"/>
              <a:cs typeface="Times New Roman" panose="02020603050405020304" pitchFamily="18" charset="0"/>
            </a:endParaRP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ALTER </a:t>
            </a:r>
            <a:r>
              <a:rPr lang="en-US" sz="1800">
                <a:solidFill>
                  <a:schemeClr val="tx1"/>
                </a:solidFill>
                <a:latin typeface="Times New Roman" panose="02020603050405020304" pitchFamily="18" charset="0"/>
                <a:cs typeface="Times New Roman" panose="02020603050405020304" pitchFamily="18" charset="0"/>
              </a:rPr>
              <a:t>DATABASE MOUNT; </a:t>
            </a:r>
            <a:endParaRPr lang="en-US" sz="1800" smtClean="0">
              <a:solidFill>
                <a:schemeClr val="tx1"/>
              </a:solidFill>
              <a:latin typeface="Times New Roman" panose="02020603050405020304" pitchFamily="18" charset="0"/>
              <a:cs typeface="Times New Roman" panose="02020603050405020304" pitchFamily="18" charset="0"/>
            </a:endParaRP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RESTORE </a:t>
            </a:r>
            <a:r>
              <a:rPr lang="en-US" sz="1800">
                <a:solidFill>
                  <a:schemeClr val="tx1"/>
                </a:solidFill>
                <a:latin typeface="Times New Roman" panose="02020603050405020304" pitchFamily="18" charset="0"/>
                <a:cs typeface="Times New Roman" panose="02020603050405020304" pitchFamily="18" charset="0"/>
              </a:rPr>
              <a:t>DATABASE; </a:t>
            </a:r>
            <a:endParaRPr lang="en-US" sz="1800" smtClean="0">
              <a:solidFill>
                <a:schemeClr val="tx1"/>
              </a:solidFill>
              <a:latin typeface="Times New Roman" panose="02020603050405020304" pitchFamily="18" charset="0"/>
              <a:cs typeface="Times New Roman" panose="02020603050405020304" pitchFamily="18" charset="0"/>
            </a:endParaRP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RECOVER </a:t>
            </a:r>
            <a:r>
              <a:rPr lang="en-US" sz="1800">
                <a:solidFill>
                  <a:schemeClr val="tx1"/>
                </a:solidFill>
                <a:latin typeface="Times New Roman" panose="02020603050405020304" pitchFamily="18" charset="0"/>
                <a:cs typeface="Times New Roman" panose="02020603050405020304" pitchFamily="18" charset="0"/>
              </a:rPr>
              <a:t>DATABASE; </a:t>
            </a:r>
            <a:endParaRPr lang="en-US" sz="1800" smtClean="0">
              <a:solidFill>
                <a:schemeClr val="tx1"/>
              </a:solidFill>
              <a:latin typeface="Times New Roman" panose="02020603050405020304" pitchFamily="18" charset="0"/>
              <a:cs typeface="Times New Roman" panose="02020603050405020304" pitchFamily="18" charset="0"/>
            </a:endParaRP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ALTER </a:t>
            </a:r>
            <a:r>
              <a:rPr lang="en-US" sz="1800">
                <a:solidFill>
                  <a:schemeClr val="tx1"/>
                </a:solidFill>
                <a:latin typeface="Times New Roman" panose="02020603050405020304" pitchFamily="18" charset="0"/>
                <a:cs typeface="Times New Roman" panose="02020603050405020304" pitchFamily="18" charset="0"/>
              </a:rPr>
              <a:t>DATABASE OPEN RESETLOGS; </a:t>
            </a:r>
            <a:endParaRPr lang="en-US" sz="1800" smtClean="0">
              <a:solidFill>
                <a:schemeClr val="tx1"/>
              </a:solidFill>
              <a:latin typeface="Times New Roman" panose="02020603050405020304" pitchFamily="18" charset="0"/>
              <a:cs typeface="Times New Roman" panose="02020603050405020304" pitchFamily="18" charset="0"/>
            </a:endParaRPr>
          </a:p>
          <a:p>
            <a:pPr marL="400050" lvl="1" indent="0">
              <a:buNone/>
            </a:pPr>
            <a:r>
              <a:rPr lang="en-US" sz="1800" smtClean="0">
                <a:solidFill>
                  <a:schemeClr val="tx1"/>
                </a:solidFill>
                <a:latin typeface="Times New Roman" panose="02020603050405020304" pitchFamily="18" charset="0"/>
                <a:cs typeface="Times New Roman" panose="02020603050405020304" pitchFamily="18" charset="0"/>
              </a:rPr>
              <a:t>} </a:t>
            </a:r>
            <a:endParaRPr lang="en-US" sz="1800">
              <a:solidFill>
                <a:schemeClr val="tx1"/>
              </a:solidFill>
              <a:latin typeface="Times New Roman" panose="02020603050405020304" pitchFamily="18" charset="0"/>
              <a:cs typeface="Times New Roman" panose="02020603050405020304" pitchFamily="18" charset="0"/>
            </a:endParaRPr>
          </a:p>
        </p:txBody>
      </p:sp>
      <p:sp>
        <p:nvSpPr>
          <p:cNvPr id="8" name="Content Placeholder 2"/>
          <p:cNvSpPr txBox="1">
            <a:spLocks/>
          </p:cNvSpPr>
          <p:nvPr/>
        </p:nvSpPr>
        <p:spPr>
          <a:xfrm>
            <a:off x="381000" y="784455"/>
            <a:ext cx="8463116" cy="37854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lvl="1" indent="0" algn="just">
              <a:buFont typeface="Wingdings 3" charset="2"/>
              <a:buNone/>
            </a:pPr>
            <a:r>
              <a:rPr lang="en-US" sz="1800" b="1" smtClean="0">
                <a:solidFill>
                  <a:schemeClr val="tx1"/>
                </a:solidFill>
                <a:latin typeface="Times New Roman" panose="02020603050405020304" pitchFamily="18" charset="0"/>
                <a:cs typeface="Times New Roman" panose="02020603050405020304" pitchFamily="18" charset="0"/>
              </a:rPr>
              <a:t>Ví dụ: Restoring và Recovering toàn bộ Database tới 1 Point-in-time</a:t>
            </a:r>
          </a:p>
        </p:txBody>
      </p:sp>
    </p:spTree>
    <p:extLst>
      <p:ext uri="{BB962C8B-B14F-4D97-AF65-F5344CB8AC3E}">
        <p14:creationId xmlns:p14="http://schemas.microsoft.com/office/powerpoint/2010/main" val="2416094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884" y="152400"/>
            <a:ext cx="9987116" cy="762000"/>
          </a:xfrm>
        </p:spPr>
        <p:txBody>
          <a:bodyPr>
            <a:normAutofit/>
          </a:bodyPr>
          <a:lstStyle/>
          <a:p>
            <a:r>
              <a:rPr lang="en-US" b="1">
                <a:latin typeface="Times New Roman" panose="02020603050405020304" pitchFamily="18" charset="0"/>
                <a:cs typeface="Times New Roman" panose="02020603050405020304" pitchFamily="18" charset="0"/>
              </a:rPr>
              <a:t>Recovering Protected Databases Using </a:t>
            </a:r>
            <a:r>
              <a:rPr lang="en-US" b="1" smtClean="0">
                <a:latin typeface="Times New Roman" panose="02020603050405020304" pitchFamily="18" charset="0"/>
                <a:cs typeface="Times New Roman" panose="02020603050405020304" pitchFamily="18" charset="0"/>
              </a:rPr>
              <a:t>CLI</a:t>
            </a:r>
            <a:endParaRPr lang="en-US" b="1">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1277600" y="6324600"/>
            <a:ext cx="683339" cy="365125"/>
          </a:xfrm>
        </p:spPr>
        <p:txBody>
          <a:bodyPr/>
          <a:lstStyle/>
          <a:p>
            <a:fld id="{4B5BF5B0-096F-4568-8CFB-193A3A582989}" type="slidenum">
              <a:rPr lang="en-US" sz="1800" b="1" smtClean="0">
                <a:solidFill>
                  <a:schemeClr val="tx1"/>
                </a:solidFill>
                <a:latin typeface="Times New Roman" panose="02020603050405020304" pitchFamily="18" charset="0"/>
                <a:cs typeface="Times New Roman" panose="02020603050405020304" pitchFamily="18" charset="0"/>
              </a:rPr>
              <a:pPr/>
              <a:t>25</a:t>
            </a:fld>
            <a:endParaRPr lang="en-US" sz="1800" b="1">
              <a:solidFill>
                <a:schemeClr val="tx1"/>
              </a:solidFill>
              <a:latin typeface="Times New Roman" panose="02020603050405020304" pitchFamily="18" charset="0"/>
              <a:cs typeface="Times New Roman" panose="02020603050405020304" pitchFamily="18" charset="0"/>
            </a:endParaRPr>
          </a:p>
        </p:txBody>
      </p:sp>
      <p:sp>
        <p:nvSpPr>
          <p:cNvPr id="9" name="Content Placeholder 2"/>
          <p:cNvSpPr>
            <a:spLocks noGrp="1"/>
          </p:cNvSpPr>
          <p:nvPr>
            <p:ph idx="1"/>
          </p:nvPr>
        </p:nvSpPr>
        <p:spPr>
          <a:xfrm>
            <a:off x="680884" y="1411594"/>
            <a:ext cx="8463116" cy="5105400"/>
          </a:xfrm>
        </p:spPr>
        <p:txBody>
          <a:bodyPr>
            <a:normAutofit/>
          </a:bodyPr>
          <a:lstStyle/>
          <a:p>
            <a:pPr lvl="1" algn="just">
              <a:buFont typeface="Wingdings" panose="05000000000000000000" pitchFamily="2" charset="2"/>
              <a:buChar char="Ø"/>
            </a:pPr>
            <a:r>
              <a:rPr lang="en-US" sz="1800" smtClean="0">
                <a:solidFill>
                  <a:schemeClr val="tx1"/>
                </a:solidFill>
                <a:latin typeface="Times New Roman" panose="02020603050405020304" pitchFamily="18" charset="0"/>
                <a:cs typeface="Times New Roman" panose="02020603050405020304" pitchFamily="18" charset="0"/>
              </a:rPr>
              <a:t>Sử </a:t>
            </a:r>
            <a:r>
              <a:rPr lang="en-US" sz="1800">
                <a:solidFill>
                  <a:schemeClr val="tx1"/>
                </a:solidFill>
                <a:latin typeface="Times New Roman" panose="02020603050405020304" pitchFamily="18" charset="0"/>
                <a:cs typeface="Times New Roman" panose="02020603050405020304" pitchFamily="18" charset="0"/>
              </a:rPr>
              <a:t>dụng RMAN kết nối đến protected database bằng lệnh TARGET và kết nối đến Recovery Appliance bằng lệnh </a:t>
            </a:r>
            <a:r>
              <a:rPr lang="en-US" sz="1800" smtClean="0">
                <a:solidFill>
                  <a:schemeClr val="tx1"/>
                </a:solidFill>
                <a:latin typeface="Times New Roman" panose="02020603050405020304" pitchFamily="18" charset="0"/>
                <a:cs typeface="Times New Roman" panose="02020603050405020304" pitchFamily="18" charset="0"/>
              </a:rPr>
              <a:t>CATALOG:</a:t>
            </a:r>
            <a:endParaRPr lang="en-US" sz="180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a:solidFill>
                  <a:schemeClr val="tx1"/>
                </a:solidFill>
                <a:latin typeface="Times New Roman" panose="02020603050405020304" pitchFamily="18" charset="0"/>
                <a:cs typeface="Times New Roman" panose="02020603050405020304" pitchFamily="18" charset="0"/>
              </a:rPr>
              <a:t>r</a:t>
            </a:r>
            <a:r>
              <a:rPr lang="en-US" sz="1800" smtClean="0">
                <a:solidFill>
                  <a:schemeClr val="tx1"/>
                </a:solidFill>
                <a:latin typeface="Times New Roman" panose="02020603050405020304" pitchFamily="18" charset="0"/>
                <a:cs typeface="Times New Roman" panose="02020603050405020304" pitchFamily="18" charset="0"/>
              </a:rPr>
              <a:t>man</a:t>
            </a:r>
          </a:p>
          <a:p>
            <a:pPr marL="857250" lvl="2" indent="0" algn="just">
              <a:buNone/>
            </a:pPr>
            <a:r>
              <a:rPr lang="en-US" sz="1800">
                <a:solidFill>
                  <a:schemeClr val="tx1"/>
                </a:solidFill>
                <a:latin typeface="Times New Roman" panose="02020603050405020304" pitchFamily="18" charset="0"/>
                <a:cs typeface="Times New Roman" panose="02020603050405020304" pitchFamily="18" charset="0"/>
              </a:rPr>
              <a:t>RMAN&gt; CONNECT TARGET c##bkuser@my_cdb;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RMAN</a:t>
            </a:r>
            <a:r>
              <a:rPr lang="en-US" sz="1800">
                <a:solidFill>
                  <a:schemeClr val="tx1"/>
                </a:solidFill>
                <a:latin typeface="Times New Roman" panose="02020603050405020304" pitchFamily="18" charset="0"/>
                <a:cs typeface="Times New Roman" panose="02020603050405020304" pitchFamily="18" charset="0"/>
              </a:rPr>
              <a:t>&gt; CONNECT CATALOG ra_rman_user@ra1</a:t>
            </a:r>
            <a:r>
              <a:rPr lang="en-US" sz="1800" smtClean="0">
                <a:solidFill>
                  <a:schemeClr val="tx1"/>
                </a:solidFill>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Ø"/>
            </a:pPr>
            <a:r>
              <a:rPr lang="en-US" sz="1800">
                <a:solidFill>
                  <a:schemeClr val="tx1"/>
                </a:solidFill>
                <a:latin typeface="Times New Roman" panose="02020603050405020304" pitchFamily="18" charset="0"/>
                <a:cs typeface="Times New Roman" panose="02020603050405020304" pitchFamily="18" charset="0"/>
              </a:rPr>
              <a:t>Restore and recover </a:t>
            </a:r>
            <a:r>
              <a:rPr lang="en-US" sz="1800" smtClean="0">
                <a:solidFill>
                  <a:schemeClr val="tx1"/>
                </a:solidFill>
                <a:latin typeface="Times New Roman" panose="02020603050405020304" pitchFamily="18" charset="0"/>
                <a:cs typeface="Times New Roman" panose="02020603050405020304" pitchFamily="18" charset="0"/>
              </a:rPr>
              <a:t>data file 3 bị lỗi:</a:t>
            </a:r>
          </a:p>
          <a:p>
            <a:pPr marL="857250" lvl="2" indent="0" algn="just">
              <a:buNone/>
            </a:pPr>
            <a:r>
              <a:rPr lang="en-US" sz="1800">
                <a:solidFill>
                  <a:schemeClr val="tx1"/>
                </a:solidFill>
                <a:latin typeface="Times New Roman" panose="02020603050405020304" pitchFamily="18" charset="0"/>
                <a:cs typeface="Times New Roman" panose="02020603050405020304" pitchFamily="18" charset="0"/>
              </a:rPr>
              <a:t>RUN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 </a:t>
            </a: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SQL </a:t>
            </a:r>
            <a:r>
              <a:rPr lang="en-US" sz="1800">
                <a:solidFill>
                  <a:schemeClr val="tx1"/>
                </a:solidFill>
                <a:latin typeface="Times New Roman" panose="02020603050405020304" pitchFamily="18" charset="0"/>
                <a:cs typeface="Times New Roman" panose="02020603050405020304" pitchFamily="18" charset="0"/>
              </a:rPr>
              <a:t>'ALTER DATABASE DATAFILE 3 OFFLINE';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RESTORE </a:t>
            </a:r>
            <a:r>
              <a:rPr lang="en-US" sz="1800">
                <a:solidFill>
                  <a:schemeClr val="tx1"/>
                </a:solidFill>
                <a:latin typeface="Times New Roman" panose="02020603050405020304" pitchFamily="18" charset="0"/>
                <a:cs typeface="Times New Roman" panose="02020603050405020304" pitchFamily="18" charset="0"/>
              </a:rPr>
              <a:t>DATAFILE 3;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RECOVER </a:t>
            </a:r>
            <a:r>
              <a:rPr lang="en-US" sz="1800">
                <a:solidFill>
                  <a:schemeClr val="tx1"/>
                </a:solidFill>
                <a:latin typeface="Times New Roman" panose="02020603050405020304" pitchFamily="18" charset="0"/>
                <a:cs typeface="Times New Roman" panose="02020603050405020304" pitchFamily="18" charset="0"/>
              </a:rPr>
              <a:t>DATAFILE 3;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SQL </a:t>
            </a:r>
            <a:r>
              <a:rPr lang="en-US" sz="1800">
                <a:solidFill>
                  <a:schemeClr val="tx1"/>
                </a:solidFill>
                <a:latin typeface="Times New Roman" panose="02020603050405020304" pitchFamily="18" charset="0"/>
                <a:cs typeface="Times New Roman" panose="02020603050405020304" pitchFamily="18" charset="0"/>
              </a:rPr>
              <a:t>'ALTER DATABASE DATAFILE 3 ONLINE'; </a:t>
            </a:r>
            <a:endParaRPr lang="en-US" sz="1800" smtClean="0">
              <a:solidFill>
                <a:schemeClr val="tx1"/>
              </a:solidFill>
              <a:latin typeface="Times New Roman" panose="02020603050405020304" pitchFamily="18" charset="0"/>
              <a:cs typeface="Times New Roman" panose="02020603050405020304" pitchFamily="18" charset="0"/>
            </a:endParaRPr>
          </a:p>
          <a:p>
            <a:pPr marL="857250" lvl="2" indent="0" algn="just">
              <a:buNone/>
            </a:pPr>
            <a:r>
              <a:rPr lang="en-US" sz="1800" smtClean="0">
                <a:solidFill>
                  <a:schemeClr val="tx1"/>
                </a:solidFill>
                <a:latin typeface="Times New Roman" panose="02020603050405020304" pitchFamily="18" charset="0"/>
                <a:cs typeface="Times New Roman" panose="02020603050405020304" pitchFamily="18" charset="0"/>
              </a:rPr>
              <a:t>} </a:t>
            </a:r>
          </a:p>
        </p:txBody>
      </p:sp>
      <p:sp>
        <p:nvSpPr>
          <p:cNvPr id="8" name="Content Placeholder 2"/>
          <p:cNvSpPr txBox="1">
            <a:spLocks/>
          </p:cNvSpPr>
          <p:nvPr/>
        </p:nvSpPr>
        <p:spPr>
          <a:xfrm>
            <a:off x="381000" y="914400"/>
            <a:ext cx="8463116" cy="37854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lvl="1" indent="0" algn="just">
              <a:buFont typeface="Wingdings 3" charset="2"/>
              <a:buNone/>
            </a:pPr>
            <a:r>
              <a:rPr lang="en-US" sz="1800" b="1" smtClean="0">
                <a:solidFill>
                  <a:schemeClr val="tx1"/>
                </a:solidFill>
                <a:latin typeface="Times New Roman" panose="02020603050405020304" pitchFamily="18" charset="0"/>
                <a:cs typeface="Times New Roman" panose="02020603050405020304" pitchFamily="18" charset="0"/>
              </a:rPr>
              <a:t>Ví dụ: Restoring và Recovering Data file bị lỗi</a:t>
            </a:r>
          </a:p>
        </p:txBody>
      </p:sp>
    </p:spTree>
    <p:extLst>
      <p:ext uri="{BB962C8B-B14F-4D97-AF65-F5344CB8AC3E}">
        <p14:creationId xmlns:p14="http://schemas.microsoft.com/office/powerpoint/2010/main" val="1237626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1447800"/>
            <a:ext cx="6990443" cy="3787888"/>
          </a:xfrm>
        </p:spPr>
        <p:txBody>
          <a:bodyPr/>
          <a:lstStyle/>
          <a:p>
            <a:pPr algn="ctr">
              <a:lnSpc>
                <a:spcPct val="150000"/>
              </a:lnSpc>
              <a:spcBef>
                <a:spcPts val="450"/>
              </a:spcBef>
              <a:spcAft>
                <a:spcPts val="450"/>
              </a:spcAft>
            </a:pPr>
            <a:r>
              <a:rPr lang="en-US" b="1" smtClean="0">
                <a:latin typeface="Times New Roman" panose="02020603050405020304" pitchFamily="18" charset="0"/>
                <a:ea typeface="Tahoma" panose="020B0604030504040204" pitchFamily="34" charset="0"/>
                <a:cs typeface="Times New Roman" panose="02020603050405020304" pitchFamily="18" charset="0"/>
              </a:rPr>
              <a:t>KẾT THÚC</a:t>
            </a:r>
            <a:br>
              <a:rPr lang="en-US" b="1" smtClean="0">
                <a:latin typeface="Times New Roman" panose="02020603050405020304" pitchFamily="18" charset="0"/>
                <a:ea typeface="Tahoma" panose="020B0604030504040204" pitchFamily="34" charset="0"/>
                <a:cs typeface="Times New Roman" panose="02020603050405020304" pitchFamily="18" charset="0"/>
              </a:rPr>
            </a:br>
            <a:r>
              <a:rPr lang="en-US" b="1" smtClean="0">
                <a:latin typeface="Times New Roman" panose="02020603050405020304" pitchFamily="18" charset="0"/>
                <a:ea typeface="Tahoma" panose="020B0604030504040204" pitchFamily="34" charset="0"/>
                <a:cs typeface="Times New Roman" panose="02020603050405020304" pitchFamily="18" charset="0"/>
              </a:rPr>
              <a:t>XIN CHÂN THÀNH CẢM ƠN</a:t>
            </a:r>
            <a:endParaRPr lang="en-US" b="1">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57300150"/>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28887</TotalTime>
  <Words>3464</Words>
  <Application>Microsoft Office PowerPoint</Application>
  <PresentationFormat>Widescreen</PresentationFormat>
  <Paragraphs>359</Paragraphs>
  <Slides>26</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Tahoma</vt:lpstr>
      <vt:lpstr>Times New Roman</vt:lpstr>
      <vt:lpstr>Trebuchet MS</vt:lpstr>
      <vt:lpstr>Wingdings</vt:lpstr>
      <vt:lpstr>Wingdings 3</vt:lpstr>
      <vt:lpstr>Facet</vt:lpstr>
      <vt:lpstr>PowerPoint Presentation</vt:lpstr>
      <vt:lpstr>Nội dung đào tạo ZDLRA</vt:lpstr>
      <vt:lpstr>Tổng quan giải pháp</vt:lpstr>
      <vt:lpstr>4 Backup Methods for Oracle Database</vt:lpstr>
      <vt:lpstr>ZDLRA is the 5th</vt:lpstr>
      <vt:lpstr>Traditional Daily Full Backup</vt:lpstr>
      <vt:lpstr>Traditional Weekly Full, Daily Incremental</vt:lpstr>
      <vt:lpstr>ZDLRA – Phương pháp tiếp cận vượt trội</vt:lpstr>
      <vt:lpstr>Thành phần tủ Rack RA23</vt:lpstr>
      <vt:lpstr>RA23 compute server</vt:lpstr>
      <vt:lpstr>RA23 storage server</vt:lpstr>
      <vt:lpstr>Kiến trúc Recovery Appliance</vt:lpstr>
      <vt:lpstr>Tính năng Recovery Appliance</vt:lpstr>
      <vt:lpstr>Eliminate Data Loss (chống mất dữ liệu)</vt:lpstr>
      <vt:lpstr>Mã hóa các bản backup dài hạn lưu ở Cloud, ZFS hoặc Tape</vt:lpstr>
      <vt:lpstr>Minimal Impact Backups (chỉ backup những dữ liệu đã thay đổi)</vt:lpstr>
      <vt:lpstr>Tính năng Recovery Appliance (còn lại)</vt:lpstr>
      <vt:lpstr>Flow backup với Recovery Appliance</vt:lpstr>
      <vt:lpstr>Restore với Recovery Appliance</vt:lpstr>
      <vt:lpstr>Recovering Protected Databases Using Cloud Control</vt:lpstr>
      <vt:lpstr>Recovering Protected Databases Using CLI</vt:lpstr>
      <vt:lpstr>Recovering Protected Databases Using CLI</vt:lpstr>
      <vt:lpstr>Recovering Protected Databases Using CLI</vt:lpstr>
      <vt:lpstr>Recovering Protected Databases Using CLI</vt:lpstr>
      <vt:lpstr>Recovering Protected Databases Using CLI</vt:lpstr>
      <vt:lpstr>KẾT THÚC XIN CHÂN THÀNH CẢM ƠN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Wing Cambodia</dc:title>
  <dc:creator/>
  <cp:lastModifiedBy>Windows</cp:lastModifiedBy>
  <cp:revision>656</cp:revision>
  <dcterms:created xsi:type="dcterms:W3CDTF">2016-02-24T01:56:12Z</dcterms:created>
  <dcterms:modified xsi:type="dcterms:W3CDTF">2024-11-28T10:39:15Z</dcterms:modified>
</cp:coreProperties>
</file>